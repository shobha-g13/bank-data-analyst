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694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20D1E7-1725-4BAE-80AB-3DBC7CE2B7EB}" type="doc">
      <dgm:prSet loTypeId="urn:microsoft.com/office/officeart/2018/5/layout/IconCircleLabelList#2" loCatId="icon" qsTypeId="urn:microsoft.com/office/officeart/2005/8/quickstyle/simple1" qsCatId="simple" csTypeId="urn:microsoft.com/office/officeart/2018/5/colors/Iconchunking_coloredtext_colorful1#1" csCatId="colorful" phldr="1"/>
      <dgm:spPr/>
      <dgm:t>
        <a:bodyPr/>
        <a:lstStyle/>
        <a:p>
          <a:endParaRPr lang="en-US"/>
        </a:p>
      </dgm:t>
    </dgm:pt>
    <dgm:pt modelId="{82041CF5-530A-4921-90DF-2252D2C2FCFF}">
      <dgm:prSet/>
      <dgm:spPr/>
      <dgm:t>
        <a:bodyPr/>
        <a:lstStyle/>
        <a:p>
          <a:pPr>
            <a:defRPr cap="all"/>
          </a:pPr>
          <a:r>
            <a:rPr lang="en-US"/>
            <a:t>Introduction</a:t>
          </a:r>
        </a:p>
      </dgm:t>
    </dgm:pt>
    <dgm:pt modelId="{22BCD1F6-3B9B-4FDE-81CD-D98B819F69B8}" type="parTrans" cxnId="{D0F121E6-08C6-41A8-83C2-6F741B87B89C}">
      <dgm:prSet/>
      <dgm:spPr/>
      <dgm:t>
        <a:bodyPr/>
        <a:lstStyle/>
        <a:p>
          <a:endParaRPr lang="en-US"/>
        </a:p>
      </dgm:t>
    </dgm:pt>
    <dgm:pt modelId="{44A017D1-0BFE-4FE9-AEE0-051F79CCA7BC}" type="sibTrans" cxnId="{D0F121E6-08C6-41A8-83C2-6F741B87B89C}">
      <dgm:prSet/>
      <dgm:spPr/>
      <dgm:t>
        <a:bodyPr/>
        <a:lstStyle/>
        <a:p>
          <a:endParaRPr lang="en-US"/>
        </a:p>
      </dgm:t>
    </dgm:pt>
    <dgm:pt modelId="{1998A71C-9B83-49EA-B44C-E02562B8A7C3}">
      <dgm:prSet/>
      <dgm:spPr/>
      <dgm:t>
        <a:bodyPr/>
        <a:lstStyle/>
        <a:p>
          <a:pPr>
            <a:defRPr cap="all"/>
          </a:pPr>
          <a:r>
            <a:rPr lang="en-US"/>
            <a:t>Objectives</a:t>
          </a:r>
        </a:p>
      </dgm:t>
    </dgm:pt>
    <dgm:pt modelId="{D173D9A4-D5B6-426B-B513-E2AB796E7DC7}" type="parTrans" cxnId="{1D0E5867-EFCB-4D71-8BBD-9F70084A3CC9}">
      <dgm:prSet/>
      <dgm:spPr/>
      <dgm:t>
        <a:bodyPr/>
        <a:lstStyle/>
        <a:p>
          <a:endParaRPr lang="en-US"/>
        </a:p>
      </dgm:t>
    </dgm:pt>
    <dgm:pt modelId="{921DD8FC-204F-4524-9304-7E5BFC93DE51}" type="sibTrans" cxnId="{1D0E5867-EFCB-4D71-8BBD-9F70084A3CC9}">
      <dgm:prSet/>
      <dgm:spPr/>
      <dgm:t>
        <a:bodyPr/>
        <a:lstStyle/>
        <a:p>
          <a:endParaRPr lang="en-US"/>
        </a:p>
      </dgm:t>
    </dgm:pt>
    <dgm:pt modelId="{00C98699-D699-417D-822C-359EE945E313}">
      <dgm:prSet/>
      <dgm:spPr/>
      <dgm:t>
        <a:bodyPr/>
        <a:lstStyle/>
        <a:p>
          <a:pPr>
            <a:defRPr cap="all"/>
          </a:pPr>
          <a:r>
            <a:rPr lang="en-US"/>
            <a:t>Tools used for Data analysis and their limitations</a:t>
          </a:r>
        </a:p>
      </dgm:t>
    </dgm:pt>
    <dgm:pt modelId="{9F1CE650-01A0-480E-ABFF-DFC1D132F18F}" type="parTrans" cxnId="{184F3556-3622-47C2-B3BC-79D3016AC2B1}">
      <dgm:prSet/>
      <dgm:spPr/>
      <dgm:t>
        <a:bodyPr/>
        <a:lstStyle/>
        <a:p>
          <a:endParaRPr lang="en-US"/>
        </a:p>
      </dgm:t>
    </dgm:pt>
    <dgm:pt modelId="{E8DFD4DF-70C1-485F-B959-E122FE3AD00D}" type="sibTrans" cxnId="{184F3556-3622-47C2-B3BC-79D3016AC2B1}">
      <dgm:prSet/>
      <dgm:spPr/>
      <dgm:t>
        <a:bodyPr/>
        <a:lstStyle/>
        <a:p>
          <a:endParaRPr lang="en-US"/>
        </a:p>
      </dgm:t>
    </dgm:pt>
    <dgm:pt modelId="{174A4AA4-580E-4E8A-B240-A17BA3D46958}">
      <dgm:prSet/>
      <dgm:spPr/>
      <dgm:t>
        <a:bodyPr/>
        <a:lstStyle/>
        <a:p>
          <a:pPr>
            <a:defRPr cap="all"/>
          </a:pPr>
          <a:r>
            <a:rPr lang="en-US"/>
            <a:t>Dashboard</a:t>
          </a:r>
        </a:p>
      </dgm:t>
    </dgm:pt>
    <dgm:pt modelId="{3966CC3D-B395-4C84-B9DF-A640ACA4612A}" type="parTrans" cxnId="{49C30647-A8C0-4D5D-AE36-E50DEBCA29F8}">
      <dgm:prSet/>
      <dgm:spPr/>
      <dgm:t>
        <a:bodyPr/>
        <a:lstStyle/>
        <a:p>
          <a:endParaRPr lang="en-US"/>
        </a:p>
      </dgm:t>
    </dgm:pt>
    <dgm:pt modelId="{F2268476-4CE7-460B-B5D3-9FA28EDB9074}" type="sibTrans" cxnId="{49C30647-A8C0-4D5D-AE36-E50DEBCA29F8}">
      <dgm:prSet/>
      <dgm:spPr/>
      <dgm:t>
        <a:bodyPr/>
        <a:lstStyle/>
        <a:p>
          <a:endParaRPr lang="en-US"/>
        </a:p>
      </dgm:t>
    </dgm:pt>
    <dgm:pt modelId="{C82DC6C0-37C8-47C9-B05D-C336C5377A6F}">
      <dgm:prSet/>
      <dgm:spPr/>
      <dgm:t>
        <a:bodyPr/>
        <a:lstStyle/>
        <a:p>
          <a:pPr>
            <a:defRPr cap="all"/>
          </a:pPr>
          <a:r>
            <a:rPr lang="en-US"/>
            <a:t>Findings</a:t>
          </a:r>
        </a:p>
      </dgm:t>
    </dgm:pt>
    <dgm:pt modelId="{37A74CF4-4B85-41C7-B850-3209D57275AB}" type="parTrans" cxnId="{5BCB828D-7859-4E23-B7FC-7F6D774BC8EB}">
      <dgm:prSet/>
      <dgm:spPr/>
      <dgm:t>
        <a:bodyPr/>
        <a:lstStyle/>
        <a:p>
          <a:endParaRPr lang="en-US"/>
        </a:p>
      </dgm:t>
    </dgm:pt>
    <dgm:pt modelId="{04935D12-590D-49CC-9CB8-A4164113C239}" type="sibTrans" cxnId="{5BCB828D-7859-4E23-B7FC-7F6D774BC8EB}">
      <dgm:prSet/>
      <dgm:spPr/>
      <dgm:t>
        <a:bodyPr/>
        <a:lstStyle/>
        <a:p>
          <a:endParaRPr lang="en-US"/>
        </a:p>
      </dgm:t>
    </dgm:pt>
    <dgm:pt modelId="{3109F7F3-AC37-4AC0-B7F3-47AED685827C}">
      <dgm:prSet/>
      <dgm:spPr/>
      <dgm:t>
        <a:bodyPr/>
        <a:lstStyle/>
        <a:p>
          <a:pPr>
            <a:defRPr cap="all"/>
          </a:pPr>
          <a:r>
            <a:rPr lang="en-US"/>
            <a:t>Summary</a:t>
          </a:r>
        </a:p>
      </dgm:t>
    </dgm:pt>
    <dgm:pt modelId="{0A6126AD-AA06-410C-948F-BFC626C03D0E}" type="parTrans" cxnId="{C9AAD834-4206-4F4A-B463-5F4120907FFB}">
      <dgm:prSet/>
      <dgm:spPr/>
      <dgm:t>
        <a:bodyPr/>
        <a:lstStyle/>
        <a:p>
          <a:endParaRPr lang="en-US"/>
        </a:p>
      </dgm:t>
    </dgm:pt>
    <dgm:pt modelId="{2ED4F67A-32F0-41DC-B743-27669F85C0C6}" type="sibTrans" cxnId="{C9AAD834-4206-4F4A-B463-5F4120907FFB}">
      <dgm:prSet/>
      <dgm:spPr/>
      <dgm:t>
        <a:bodyPr/>
        <a:lstStyle/>
        <a:p>
          <a:endParaRPr lang="en-US"/>
        </a:p>
      </dgm:t>
    </dgm:pt>
    <dgm:pt modelId="{6FFE2CAE-2ACB-464F-A65D-7BF1BAB0EE26}">
      <dgm:prSet/>
      <dgm:spPr/>
      <dgm:t>
        <a:bodyPr/>
        <a:lstStyle/>
        <a:p>
          <a:pPr>
            <a:defRPr cap="all"/>
          </a:pPr>
          <a:r>
            <a:rPr lang="en-US"/>
            <a:t>Conclusion</a:t>
          </a:r>
        </a:p>
      </dgm:t>
    </dgm:pt>
    <dgm:pt modelId="{F9E77A6F-C7B1-4630-BEF9-B189E771050C}" type="parTrans" cxnId="{4245B897-43D8-4AAC-81EE-C40C25033AFD}">
      <dgm:prSet/>
      <dgm:spPr/>
      <dgm:t>
        <a:bodyPr/>
        <a:lstStyle/>
        <a:p>
          <a:endParaRPr lang="en-US"/>
        </a:p>
      </dgm:t>
    </dgm:pt>
    <dgm:pt modelId="{24CE85D7-4726-46AA-A8BA-5F9F7F3F12C1}" type="sibTrans" cxnId="{4245B897-43D8-4AAC-81EE-C40C25033AFD}">
      <dgm:prSet/>
      <dgm:spPr/>
      <dgm:t>
        <a:bodyPr/>
        <a:lstStyle/>
        <a:p>
          <a:endParaRPr lang="en-US"/>
        </a:p>
      </dgm:t>
    </dgm:pt>
    <dgm:pt modelId="{89391E46-E759-42E9-BCEF-01DC608A84B0}" type="pres">
      <dgm:prSet presAssocID="{DA20D1E7-1725-4BAE-80AB-3DBC7CE2B7EB}" presName="root" presStyleCnt="0">
        <dgm:presLayoutVars>
          <dgm:dir/>
          <dgm:resizeHandles val="exact"/>
        </dgm:presLayoutVars>
      </dgm:prSet>
      <dgm:spPr/>
    </dgm:pt>
    <dgm:pt modelId="{62F4D9F3-980A-4813-8BB9-EF706DC5F92F}" type="pres">
      <dgm:prSet presAssocID="{82041CF5-530A-4921-90DF-2252D2C2FCFF}" presName="compNode" presStyleCnt="0"/>
      <dgm:spPr/>
    </dgm:pt>
    <dgm:pt modelId="{0EC969E9-C7B5-4300-8338-7A4C0F2E38BF}" type="pres">
      <dgm:prSet presAssocID="{82041CF5-530A-4921-90DF-2252D2C2FCFF}" presName="iconBgRect" presStyleLbl="bgShp" presStyleIdx="0" presStyleCnt="7"/>
      <dgm:spPr/>
    </dgm:pt>
    <dgm:pt modelId="{2691E2F2-36D5-4687-A446-AA83F7C88857}" type="pres">
      <dgm:prSet presAssocID="{82041CF5-530A-4921-90DF-2252D2C2FCFF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3352BBA8-0756-4910-81C2-D8F80862D3A6}" type="pres">
      <dgm:prSet presAssocID="{82041CF5-530A-4921-90DF-2252D2C2FCFF}" presName="spaceRect" presStyleCnt="0"/>
      <dgm:spPr/>
    </dgm:pt>
    <dgm:pt modelId="{C6567338-400C-4E6D-8FBC-8BA0A2BCEDA6}" type="pres">
      <dgm:prSet presAssocID="{82041CF5-530A-4921-90DF-2252D2C2FCFF}" presName="textRect" presStyleLbl="revTx" presStyleIdx="0" presStyleCnt="7">
        <dgm:presLayoutVars>
          <dgm:chMax val="1"/>
          <dgm:chPref val="1"/>
        </dgm:presLayoutVars>
      </dgm:prSet>
      <dgm:spPr/>
    </dgm:pt>
    <dgm:pt modelId="{70B383A9-A2BB-4460-B918-203542B8228B}" type="pres">
      <dgm:prSet presAssocID="{44A017D1-0BFE-4FE9-AEE0-051F79CCA7BC}" presName="sibTrans" presStyleCnt="0"/>
      <dgm:spPr/>
    </dgm:pt>
    <dgm:pt modelId="{C5AC878C-C349-43BE-A1FD-0D4F4188F176}" type="pres">
      <dgm:prSet presAssocID="{1998A71C-9B83-49EA-B44C-E02562B8A7C3}" presName="compNode" presStyleCnt="0"/>
      <dgm:spPr/>
    </dgm:pt>
    <dgm:pt modelId="{A970E8E7-FF11-4C62-871B-74E1AD858212}" type="pres">
      <dgm:prSet presAssocID="{1998A71C-9B83-49EA-B44C-E02562B8A7C3}" presName="iconBgRect" presStyleLbl="bgShp" presStyleIdx="1" presStyleCnt="7"/>
      <dgm:spPr/>
    </dgm:pt>
    <dgm:pt modelId="{041DEEE6-7316-42F4-ADA1-FF26CB32A23F}" type="pres">
      <dgm:prSet presAssocID="{1998A71C-9B83-49EA-B44C-E02562B8A7C3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naire"/>
        </a:ext>
      </dgm:extLst>
    </dgm:pt>
    <dgm:pt modelId="{35E66F10-8049-4143-8BFD-36D1791A7419}" type="pres">
      <dgm:prSet presAssocID="{1998A71C-9B83-49EA-B44C-E02562B8A7C3}" presName="spaceRect" presStyleCnt="0"/>
      <dgm:spPr/>
    </dgm:pt>
    <dgm:pt modelId="{BFFB600F-3743-47F1-83CF-BF6A0E582D36}" type="pres">
      <dgm:prSet presAssocID="{1998A71C-9B83-49EA-B44C-E02562B8A7C3}" presName="textRect" presStyleLbl="revTx" presStyleIdx="1" presStyleCnt="7">
        <dgm:presLayoutVars>
          <dgm:chMax val="1"/>
          <dgm:chPref val="1"/>
        </dgm:presLayoutVars>
      </dgm:prSet>
      <dgm:spPr/>
    </dgm:pt>
    <dgm:pt modelId="{ED194A8D-2EBD-4914-92D1-E563F3FAA57D}" type="pres">
      <dgm:prSet presAssocID="{921DD8FC-204F-4524-9304-7E5BFC93DE51}" presName="sibTrans" presStyleCnt="0"/>
      <dgm:spPr/>
    </dgm:pt>
    <dgm:pt modelId="{91AAFC98-6633-4CED-AEAE-C12CFE148987}" type="pres">
      <dgm:prSet presAssocID="{00C98699-D699-417D-822C-359EE945E313}" presName="compNode" presStyleCnt="0"/>
      <dgm:spPr/>
    </dgm:pt>
    <dgm:pt modelId="{69A30654-F823-4E2F-84F2-51A9E853F186}" type="pres">
      <dgm:prSet presAssocID="{00C98699-D699-417D-822C-359EE945E313}" presName="iconBgRect" presStyleLbl="bgShp" presStyleIdx="2" presStyleCnt="7"/>
      <dgm:spPr/>
    </dgm:pt>
    <dgm:pt modelId="{B444A3A6-5D96-4193-9FE4-BD9486B704DC}" type="pres">
      <dgm:prSet presAssocID="{00C98699-D699-417D-822C-359EE945E313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A606D8-379C-405E-9837-14BDAD5EA97B}" type="pres">
      <dgm:prSet presAssocID="{00C98699-D699-417D-822C-359EE945E313}" presName="spaceRect" presStyleCnt="0"/>
      <dgm:spPr/>
    </dgm:pt>
    <dgm:pt modelId="{F2A1E236-9115-47D8-B77F-82FC2935656C}" type="pres">
      <dgm:prSet presAssocID="{00C98699-D699-417D-822C-359EE945E313}" presName="textRect" presStyleLbl="revTx" presStyleIdx="2" presStyleCnt="7">
        <dgm:presLayoutVars>
          <dgm:chMax val="1"/>
          <dgm:chPref val="1"/>
        </dgm:presLayoutVars>
      </dgm:prSet>
      <dgm:spPr/>
    </dgm:pt>
    <dgm:pt modelId="{4B058B42-FC10-4600-9746-1B9A581CC3F7}" type="pres">
      <dgm:prSet presAssocID="{E8DFD4DF-70C1-485F-B959-E122FE3AD00D}" presName="sibTrans" presStyleCnt="0"/>
      <dgm:spPr/>
    </dgm:pt>
    <dgm:pt modelId="{7A6FC4BE-4810-4528-874C-64DB978F8FA5}" type="pres">
      <dgm:prSet presAssocID="{174A4AA4-580E-4E8A-B240-A17BA3D46958}" presName="compNode" presStyleCnt="0"/>
      <dgm:spPr/>
    </dgm:pt>
    <dgm:pt modelId="{062E6720-DE5E-4FCD-8BDE-DACE7EA84051}" type="pres">
      <dgm:prSet presAssocID="{174A4AA4-580E-4E8A-B240-A17BA3D46958}" presName="iconBgRect" presStyleLbl="bgShp" presStyleIdx="3" presStyleCnt="7"/>
      <dgm:spPr/>
    </dgm:pt>
    <dgm:pt modelId="{A7B31D72-F459-463F-9323-EF9336284C55}" type="pres">
      <dgm:prSet presAssocID="{174A4AA4-580E-4E8A-B240-A17BA3D4695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8C998A33-8CF7-4ECE-8D9F-B289E1C7B30F}" type="pres">
      <dgm:prSet presAssocID="{174A4AA4-580E-4E8A-B240-A17BA3D46958}" presName="spaceRect" presStyleCnt="0"/>
      <dgm:spPr/>
    </dgm:pt>
    <dgm:pt modelId="{815DD17E-499A-41EF-8983-C3D7B96FE110}" type="pres">
      <dgm:prSet presAssocID="{174A4AA4-580E-4E8A-B240-A17BA3D46958}" presName="textRect" presStyleLbl="revTx" presStyleIdx="3" presStyleCnt="7">
        <dgm:presLayoutVars>
          <dgm:chMax val="1"/>
          <dgm:chPref val="1"/>
        </dgm:presLayoutVars>
      </dgm:prSet>
      <dgm:spPr/>
    </dgm:pt>
    <dgm:pt modelId="{06BA6CBE-A37F-4323-A82A-3B1384BB7F4B}" type="pres">
      <dgm:prSet presAssocID="{F2268476-4CE7-460B-B5D3-9FA28EDB9074}" presName="sibTrans" presStyleCnt="0"/>
      <dgm:spPr/>
    </dgm:pt>
    <dgm:pt modelId="{80CA8186-6C51-4C68-95D9-E146C580BB31}" type="pres">
      <dgm:prSet presAssocID="{C82DC6C0-37C8-47C9-B05D-C336C5377A6F}" presName="compNode" presStyleCnt="0"/>
      <dgm:spPr/>
    </dgm:pt>
    <dgm:pt modelId="{A120DC5F-1205-496A-8D77-C0F2A08BF357}" type="pres">
      <dgm:prSet presAssocID="{C82DC6C0-37C8-47C9-B05D-C336C5377A6F}" presName="iconBgRect" presStyleLbl="bgShp" presStyleIdx="4" presStyleCnt="7"/>
      <dgm:spPr/>
    </dgm:pt>
    <dgm:pt modelId="{86DD9059-9952-467E-B19E-3A80780475A4}" type="pres">
      <dgm:prSet presAssocID="{C82DC6C0-37C8-47C9-B05D-C336C5377A6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unications"/>
        </a:ext>
      </dgm:extLst>
    </dgm:pt>
    <dgm:pt modelId="{C906891B-A2FF-46F6-A611-E8D3A3667294}" type="pres">
      <dgm:prSet presAssocID="{C82DC6C0-37C8-47C9-B05D-C336C5377A6F}" presName="spaceRect" presStyleCnt="0"/>
      <dgm:spPr/>
    </dgm:pt>
    <dgm:pt modelId="{A415CAB5-A90B-4298-BD35-E26DBEC6AA9D}" type="pres">
      <dgm:prSet presAssocID="{C82DC6C0-37C8-47C9-B05D-C336C5377A6F}" presName="textRect" presStyleLbl="revTx" presStyleIdx="4" presStyleCnt="7">
        <dgm:presLayoutVars>
          <dgm:chMax val="1"/>
          <dgm:chPref val="1"/>
        </dgm:presLayoutVars>
      </dgm:prSet>
      <dgm:spPr/>
    </dgm:pt>
    <dgm:pt modelId="{56BF805C-D823-4476-9ED3-411D9EC91600}" type="pres">
      <dgm:prSet presAssocID="{04935D12-590D-49CC-9CB8-A4164113C239}" presName="sibTrans" presStyleCnt="0"/>
      <dgm:spPr/>
    </dgm:pt>
    <dgm:pt modelId="{1F07E10C-2820-4DDE-922E-339DF3B03CD1}" type="pres">
      <dgm:prSet presAssocID="{3109F7F3-AC37-4AC0-B7F3-47AED685827C}" presName="compNode" presStyleCnt="0"/>
      <dgm:spPr/>
    </dgm:pt>
    <dgm:pt modelId="{C360AC7B-5F0A-4280-A0E6-F3A96A0D6A9A}" type="pres">
      <dgm:prSet presAssocID="{3109F7F3-AC37-4AC0-B7F3-47AED685827C}" presName="iconBgRect" presStyleLbl="bgShp" presStyleIdx="5" presStyleCnt="7"/>
      <dgm:spPr/>
    </dgm:pt>
    <dgm:pt modelId="{117725E9-2C32-45A1-A7E4-6CED74815A26}" type="pres">
      <dgm:prSet presAssocID="{3109F7F3-AC37-4AC0-B7F3-47AED685827C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d Document"/>
        </a:ext>
      </dgm:extLst>
    </dgm:pt>
    <dgm:pt modelId="{7E8A4493-C46B-4535-8B60-416892252068}" type="pres">
      <dgm:prSet presAssocID="{3109F7F3-AC37-4AC0-B7F3-47AED685827C}" presName="spaceRect" presStyleCnt="0"/>
      <dgm:spPr/>
    </dgm:pt>
    <dgm:pt modelId="{583BD770-F3EA-44FE-A64C-EE350ACC8C35}" type="pres">
      <dgm:prSet presAssocID="{3109F7F3-AC37-4AC0-B7F3-47AED685827C}" presName="textRect" presStyleLbl="revTx" presStyleIdx="5" presStyleCnt="7">
        <dgm:presLayoutVars>
          <dgm:chMax val="1"/>
          <dgm:chPref val="1"/>
        </dgm:presLayoutVars>
      </dgm:prSet>
      <dgm:spPr/>
    </dgm:pt>
    <dgm:pt modelId="{5E0CCC29-5C7C-4841-9107-2DE2EE799598}" type="pres">
      <dgm:prSet presAssocID="{2ED4F67A-32F0-41DC-B743-27669F85C0C6}" presName="sibTrans" presStyleCnt="0"/>
      <dgm:spPr/>
    </dgm:pt>
    <dgm:pt modelId="{63850AAA-62DE-4302-AD8F-2EF382880376}" type="pres">
      <dgm:prSet presAssocID="{6FFE2CAE-2ACB-464F-A65D-7BF1BAB0EE26}" presName="compNode" presStyleCnt="0"/>
      <dgm:spPr/>
    </dgm:pt>
    <dgm:pt modelId="{09179C11-C19F-482D-9FDC-CDA095424778}" type="pres">
      <dgm:prSet presAssocID="{6FFE2CAE-2ACB-464F-A65D-7BF1BAB0EE26}" presName="iconBgRect" presStyleLbl="bgShp" presStyleIdx="6" presStyleCnt="7"/>
      <dgm:spPr/>
    </dgm:pt>
    <dgm:pt modelId="{749A062D-9ED9-4E8D-80D5-E1E7408B4C2E}" type="pres">
      <dgm:prSet presAssocID="{6FFE2CAE-2ACB-464F-A65D-7BF1BAB0EE26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"/>
        </a:ext>
      </dgm:extLst>
    </dgm:pt>
    <dgm:pt modelId="{89EE26A2-7683-43E4-8213-0651034C9027}" type="pres">
      <dgm:prSet presAssocID="{6FFE2CAE-2ACB-464F-A65D-7BF1BAB0EE26}" presName="spaceRect" presStyleCnt="0"/>
      <dgm:spPr/>
    </dgm:pt>
    <dgm:pt modelId="{16F9630E-2674-447B-AF0B-8176EF8B9B21}" type="pres">
      <dgm:prSet presAssocID="{6FFE2CAE-2ACB-464F-A65D-7BF1BAB0EE26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A3C95306-ED09-4A8B-820D-52157A226208}" type="presOf" srcId="{00C98699-D699-417D-822C-359EE945E313}" destId="{F2A1E236-9115-47D8-B77F-82FC2935656C}" srcOrd="0" destOrd="0" presId="urn:microsoft.com/office/officeart/2018/5/layout/IconCircleLabelList#2"/>
    <dgm:cxn modelId="{35D7B50C-E44B-478B-AC6B-A072A8D4C6C6}" type="presOf" srcId="{6FFE2CAE-2ACB-464F-A65D-7BF1BAB0EE26}" destId="{16F9630E-2674-447B-AF0B-8176EF8B9B21}" srcOrd="0" destOrd="0" presId="urn:microsoft.com/office/officeart/2018/5/layout/IconCircleLabelList#2"/>
    <dgm:cxn modelId="{C9AAD834-4206-4F4A-B463-5F4120907FFB}" srcId="{DA20D1E7-1725-4BAE-80AB-3DBC7CE2B7EB}" destId="{3109F7F3-AC37-4AC0-B7F3-47AED685827C}" srcOrd="5" destOrd="0" parTransId="{0A6126AD-AA06-410C-948F-BFC626C03D0E}" sibTransId="{2ED4F67A-32F0-41DC-B743-27669F85C0C6}"/>
    <dgm:cxn modelId="{91DF675F-A69C-4689-A51A-0E69C16C1F84}" type="presOf" srcId="{C82DC6C0-37C8-47C9-B05D-C336C5377A6F}" destId="{A415CAB5-A90B-4298-BD35-E26DBEC6AA9D}" srcOrd="0" destOrd="0" presId="urn:microsoft.com/office/officeart/2018/5/layout/IconCircleLabelList#2"/>
    <dgm:cxn modelId="{257C515F-344E-441E-AA55-B16FB4F86998}" type="presOf" srcId="{1998A71C-9B83-49EA-B44C-E02562B8A7C3}" destId="{BFFB600F-3743-47F1-83CF-BF6A0E582D36}" srcOrd="0" destOrd="0" presId="urn:microsoft.com/office/officeart/2018/5/layout/IconCircleLabelList#2"/>
    <dgm:cxn modelId="{C0E26F61-3DED-4F21-8EA3-6A065F3ACA7A}" type="presOf" srcId="{3109F7F3-AC37-4AC0-B7F3-47AED685827C}" destId="{583BD770-F3EA-44FE-A64C-EE350ACC8C35}" srcOrd="0" destOrd="0" presId="urn:microsoft.com/office/officeart/2018/5/layout/IconCircleLabelList#2"/>
    <dgm:cxn modelId="{49C30647-A8C0-4D5D-AE36-E50DEBCA29F8}" srcId="{DA20D1E7-1725-4BAE-80AB-3DBC7CE2B7EB}" destId="{174A4AA4-580E-4E8A-B240-A17BA3D46958}" srcOrd="3" destOrd="0" parTransId="{3966CC3D-B395-4C84-B9DF-A640ACA4612A}" sibTransId="{F2268476-4CE7-460B-B5D3-9FA28EDB9074}"/>
    <dgm:cxn modelId="{1D0E5867-EFCB-4D71-8BBD-9F70084A3CC9}" srcId="{DA20D1E7-1725-4BAE-80AB-3DBC7CE2B7EB}" destId="{1998A71C-9B83-49EA-B44C-E02562B8A7C3}" srcOrd="1" destOrd="0" parTransId="{D173D9A4-D5B6-426B-B513-E2AB796E7DC7}" sibTransId="{921DD8FC-204F-4524-9304-7E5BFC93DE51}"/>
    <dgm:cxn modelId="{184F3556-3622-47C2-B3BC-79D3016AC2B1}" srcId="{DA20D1E7-1725-4BAE-80AB-3DBC7CE2B7EB}" destId="{00C98699-D699-417D-822C-359EE945E313}" srcOrd="2" destOrd="0" parTransId="{9F1CE650-01A0-480E-ABFF-DFC1D132F18F}" sibTransId="{E8DFD4DF-70C1-485F-B959-E122FE3AD00D}"/>
    <dgm:cxn modelId="{9DCB8785-9E5E-47E5-A365-93E53F3BF702}" type="presOf" srcId="{DA20D1E7-1725-4BAE-80AB-3DBC7CE2B7EB}" destId="{89391E46-E759-42E9-BCEF-01DC608A84B0}" srcOrd="0" destOrd="0" presId="urn:microsoft.com/office/officeart/2018/5/layout/IconCircleLabelList#2"/>
    <dgm:cxn modelId="{5BCB828D-7859-4E23-B7FC-7F6D774BC8EB}" srcId="{DA20D1E7-1725-4BAE-80AB-3DBC7CE2B7EB}" destId="{C82DC6C0-37C8-47C9-B05D-C336C5377A6F}" srcOrd="4" destOrd="0" parTransId="{37A74CF4-4B85-41C7-B850-3209D57275AB}" sibTransId="{04935D12-590D-49CC-9CB8-A4164113C239}"/>
    <dgm:cxn modelId="{4245B897-43D8-4AAC-81EE-C40C25033AFD}" srcId="{DA20D1E7-1725-4BAE-80AB-3DBC7CE2B7EB}" destId="{6FFE2CAE-2ACB-464F-A65D-7BF1BAB0EE26}" srcOrd="6" destOrd="0" parTransId="{F9E77A6F-C7B1-4630-BEF9-B189E771050C}" sibTransId="{24CE85D7-4726-46AA-A8BA-5F9F7F3F12C1}"/>
    <dgm:cxn modelId="{77A1E9AB-5D03-46B6-9844-A4582C6089FF}" type="presOf" srcId="{174A4AA4-580E-4E8A-B240-A17BA3D46958}" destId="{815DD17E-499A-41EF-8983-C3D7B96FE110}" srcOrd="0" destOrd="0" presId="urn:microsoft.com/office/officeart/2018/5/layout/IconCircleLabelList#2"/>
    <dgm:cxn modelId="{C4F92FCC-5D4D-4CA6-95F9-C0FB291D8609}" type="presOf" srcId="{82041CF5-530A-4921-90DF-2252D2C2FCFF}" destId="{C6567338-400C-4E6D-8FBC-8BA0A2BCEDA6}" srcOrd="0" destOrd="0" presId="urn:microsoft.com/office/officeart/2018/5/layout/IconCircleLabelList#2"/>
    <dgm:cxn modelId="{D0F121E6-08C6-41A8-83C2-6F741B87B89C}" srcId="{DA20D1E7-1725-4BAE-80AB-3DBC7CE2B7EB}" destId="{82041CF5-530A-4921-90DF-2252D2C2FCFF}" srcOrd="0" destOrd="0" parTransId="{22BCD1F6-3B9B-4FDE-81CD-D98B819F69B8}" sibTransId="{44A017D1-0BFE-4FE9-AEE0-051F79CCA7BC}"/>
    <dgm:cxn modelId="{DC3887E2-66DC-43C4-BC72-0BF326B887EC}" type="presParOf" srcId="{89391E46-E759-42E9-BCEF-01DC608A84B0}" destId="{62F4D9F3-980A-4813-8BB9-EF706DC5F92F}" srcOrd="0" destOrd="0" presId="urn:microsoft.com/office/officeart/2018/5/layout/IconCircleLabelList#2"/>
    <dgm:cxn modelId="{F2416C3F-250E-4748-BEC9-51305BE7AAFB}" type="presParOf" srcId="{62F4D9F3-980A-4813-8BB9-EF706DC5F92F}" destId="{0EC969E9-C7B5-4300-8338-7A4C0F2E38BF}" srcOrd="0" destOrd="0" presId="urn:microsoft.com/office/officeart/2018/5/layout/IconCircleLabelList#2"/>
    <dgm:cxn modelId="{61261C01-BC76-4A9E-B286-1E0B8692AEE7}" type="presParOf" srcId="{62F4D9F3-980A-4813-8BB9-EF706DC5F92F}" destId="{2691E2F2-36D5-4687-A446-AA83F7C88857}" srcOrd="1" destOrd="0" presId="urn:microsoft.com/office/officeart/2018/5/layout/IconCircleLabelList#2"/>
    <dgm:cxn modelId="{36CFB590-B970-4942-8413-A7512C726684}" type="presParOf" srcId="{62F4D9F3-980A-4813-8BB9-EF706DC5F92F}" destId="{3352BBA8-0756-4910-81C2-D8F80862D3A6}" srcOrd="2" destOrd="0" presId="urn:microsoft.com/office/officeart/2018/5/layout/IconCircleLabelList#2"/>
    <dgm:cxn modelId="{280A80F4-0756-48DA-94C7-B2ECE1E900FC}" type="presParOf" srcId="{62F4D9F3-980A-4813-8BB9-EF706DC5F92F}" destId="{C6567338-400C-4E6D-8FBC-8BA0A2BCEDA6}" srcOrd="3" destOrd="0" presId="urn:microsoft.com/office/officeart/2018/5/layout/IconCircleLabelList#2"/>
    <dgm:cxn modelId="{39D7A052-DCC9-44ED-8EB8-AA2F9B5B4622}" type="presParOf" srcId="{89391E46-E759-42E9-BCEF-01DC608A84B0}" destId="{70B383A9-A2BB-4460-B918-203542B8228B}" srcOrd="1" destOrd="0" presId="urn:microsoft.com/office/officeart/2018/5/layout/IconCircleLabelList#2"/>
    <dgm:cxn modelId="{18D96072-DBD5-45B3-B4F9-888EB2B24F07}" type="presParOf" srcId="{89391E46-E759-42E9-BCEF-01DC608A84B0}" destId="{C5AC878C-C349-43BE-A1FD-0D4F4188F176}" srcOrd="2" destOrd="0" presId="urn:microsoft.com/office/officeart/2018/5/layout/IconCircleLabelList#2"/>
    <dgm:cxn modelId="{8B4F7A15-CF43-4482-A3CC-92A547ACBD7B}" type="presParOf" srcId="{C5AC878C-C349-43BE-A1FD-0D4F4188F176}" destId="{A970E8E7-FF11-4C62-871B-74E1AD858212}" srcOrd="0" destOrd="0" presId="urn:microsoft.com/office/officeart/2018/5/layout/IconCircleLabelList#2"/>
    <dgm:cxn modelId="{3468DDD9-48B6-41B9-917C-2D24C4014579}" type="presParOf" srcId="{C5AC878C-C349-43BE-A1FD-0D4F4188F176}" destId="{041DEEE6-7316-42F4-ADA1-FF26CB32A23F}" srcOrd="1" destOrd="0" presId="urn:microsoft.com/office/officeart/2018/5/layout/IconCircleLabelList#2"/>
    <dgm:cxn modelId="{358D7733-042E-41BD-8732-1C9D8F001B82}" type="presParOf" srcId="{C5AC878C-C349-43BE-A1FD-0D4F4188F176}" destId="{35E66F10-8049-4143-8BFD-36D1791A7419}" srcOrd="2" destOrd="0" presId="urn:microsoft.com/office/officeart/2018/5/layout/IconCircleLabelList#2"/>
    <dgm:cxn modelId="{87243A78-0CBF-4EE9-A679-307D2CACF2FF}" type="presParOf" srcId="{C5AC878C-C349-43BE-A1FD-0D4F4188F176}" destId="{BFFB600F-3743-47F1-83CF-BF6A0E582D36}" srcOrd="3" destOrd="0" presId="urn:microsoft.com/office/officeart/2018/5/layout/IconCircleLabelList#2"/>
    <dgm:cxn modelId="{FFA6B95B-E8FA-4652-BF14-B37AA54FC390}" type="presParOf" srcId="{89391E46-E759-42E9-BCEF-01DC608A84B0}" destId="{ED194A8D-2EBD-4914-92D1-E563F3FAA57D}" srcOrd="3" destOrd="0" presId="urn:microsoft.com/office/officeart/2018/5/layout/IconCircleLabelList#2"/>
    <dgm:cxn modelId="{84570D46-0D71-4071-9F50-D3F26FC04A7F}" type="presParOf" srcId="{89391E46-E759-42E9-BCEF-01DC608A84B0}" destId="{91AAFC98-6633-4CED-AEAE-C12CFE148987}" srcOrd="4" destOrd="0" presId="urn:microsoft.com/office/officeart/2018/5/layout/IconCircleLabelList#2"/>
    <dgm:cxn modelId="{903512D9-0305-454F-A72F-5A212DFB3985}" type="presParOf" srcId="{91AAFC98-6633-4CED-AEAE-C12CFE148987}" destId="{69A30654-F823-4E2F-84F2-51A9E853F186}" srcOrd="0" destOrd="0" presId="urn:microsoft.com/office/officeart/2018/5/layout/IconCircleLabelList#2"/>
    <dgm:cxn modelId="{440965F5-A196-4899-907B-20CBBC197F9E}" type="presParOf" srcId="{91AAFC98-6633-4CED-AEAE-C12CFE148987}" destId="{B444A3A6-5D96-4193-9FE4-BD9486B704DC}" srcOrd="1" destOrd="0" presId="urn:microsoft.com/office/officeart/2018/5/layout/IconCircleLabelList#2"/>
    <dgm:cxn modelId="{5C457D89-8D17-4B94-8D8D-F99D7B8410AC}" type="presParOf" srcId="{91AAFC98-6633-4CED-AEAE-C12CFE148987}" destId="{D6A606D8-379C-405E-9837-14BDAD5EA97B}" srcOrd="2" destOrd="0" presId="urn:microsoft.com/office/officeart/2018/5/layout/IconCircleLabelList#2"/>
    <dgm:cxn modelId="{57BCA91A-F842-42D0-8CD2-79FED4285A62}" type="presParOf" srcId="{91AAFC98-6633-4CED-AEAE-C12CFE148987}" destId="{F2A1E236-9115-47D8-B77F-82FC2935656C}" srcOrd="3" destOrd="0" presId="urn:microsoft.com/office/officeart/2018/5/layout/IconCircleLabelList#2"/>
    <dgm:cxn modelId="{4ABF095B-C1F1-4189-8C7A-E5B5E8785855}" type="presParOf" srcId="{89391E46-E759-42E9-BCEF-01DC608A84B0}" destId="{4B058B42-FC10-4600-9746-1B9A581CC3F7}" srcOrd="5" destOrd="0" presId="urn:microsoft.com/office/officeart/2018/5/layout/IconCircleLabelList#2"/>
    <dgm:cxn modelId="{36C15D2F-654B-4FC0-BDA7-36568E860A39}" type="presParOf" srcId="{89391E46-E759-42E9-BCEF-01DC608A84B0}" destId="{7A6FC4BE-4810-4528-874C-64DB978F8FA5}" srcOrd="6" destOrd="0" presId="urn:microsoft.com/office/officeart/2018/5/layout/IconCircleLabelList#2"/>
    <dgm:cxn modelId="{D57DE686-A9D4-44CE-BFCF-E35176F2360E}" type="presParOf" srcId="{7A6FC4BE-4810-4528-874C-64DB978F8FA5}" destId="{062E6720-DE5E-4FCD-8BDE-DACE7EA84051}" srcOrd="0" destOrd="0" presId="urn:microsoft.com/office/officeart/2018/5/layout/IconCircleLabelList#2"/>
    <dgm:cxn modelId="{095FB320-A03F-463E-A869-0E915EE0EDDF}" type="presParOf" srcId="{7A6FC4BE-4810-4528-874C-64DB978F8FA5}" destId="{A7B31D72-F459-463F-9323-EF9336284C55}" srcOrd="1" destOrd="0" presId="urn:microsoft.com/office/officeart/2018/5/layout/IconCircleLabelList#2"/>
    <dgm:cxn modelId="{399091D4-920E-456B-9B37-6ABF3C0F7713}" type="presParOf" srcId="{7A6FC4BE-4810-4528-874C-64DB978F8FA5}" destId="{8C998A33-8CF7-4ECE-8D9F-B289E1C7B30F}" srcOrd="2" destOrd="0" presId="urn:microsoft.com/office/officeart/2018/5/layout/IconCircleLabelList#2"/>
    <dgm:cxn modelId="{1FD962B3-F5FF-46A2-A64C-FCD6A3366FE0}" type="presParOf" srcId="{7A6FC4BE-4810-4528-874C-64DB978F8FA5}" destId="{815DD17E-499A-41EF-8983-C3D7B96FE110}" srcOrd="3" destOrd="0" presId="urn:microsoft.com/office/officeart/2018/5/layout/IconCircleLabelList#2"/>
    <dgm:cxn modelId="{5F15CA62-CCEE-4988-8BCC-B0D114275099}" type="presParOf" srcId="{89391E46-E759-42E9-BCEF-01DC608A84B0}" destId="{06BA6CBE-A37F-4323-A82A-3B1384BB7F4B}" srcOrd="7" destOrd="0" presId="urn:microsoft.com/office/officeart/2018/5/layout/IconCircleLabelList#2"/>
    <dgm:cxn modelId="{DC0A3A0C-55EB-4BE0-8CA5-CD550B5EDEBA}" type="presParOf" srcId="{89391E46-E759-42E9-BCEF-01DC608A84B0}" destId="{80CA8186-6C51-4C68-95D9-E146C580BB31}" srcOrd="8" destOrd="0" presId="urn:microsoft.com/office/officeart/2018/5/layout/IconCircleLabelList#2"/>
    <dgm:cxn modelId="{9E46C31E-BC64-4F8E-A68B-558975F5E5C8}" type="presParOf" srcId="{80CA8186-6C51-4C68-95D9-E146C580BB31}" destId="{A120DC5F-1205-496A-8D77-C0F2A08BF357}" srcOrd="0" destOrd="0" presId="urn:microsoft.com/office/officeart/2018/5/layout/IconCircleLabelList#2"/>
    <dgm:cxn modelId="{56C439C1-8C6A-4EDE-A77B-D9FD774CDB05}" type="presParOf" srcId="{80CA8186-6C51-4C68-95D9-E146C580BB31}" destId="{86DD9059-9952-467E-B19E-3A80780475A4}" srcOrd="1" destOrd="0" presId="urn:microsoft.com/office/officeart/2018/5/layout/IconCircleLabelList#2"/>
    <dgm:cxn modelId="{5C7C78A2-7E2D-423F-A197-2AF3FF0A2D5C}" type="presParOf" srcId="{80CA8186-6C51-4C68-95D9-E146C580BB31}" destId="{C906891B-A2FF-46F6-A611-E8D3A3667294}" srcOrd="2" destOrd="0" presId="urn:microsoft.com/office/officeart/2018/5/layout/IconCircleLabelList#2"/>
    <dgm:cxn modelId="{4715815E-78FD-4662-BC18-0249CDEFF615}" type="presParOf" srcId="{80CA8186-6C51-4C68-95D9-E146C580BB31}" destId="{A415CAB5-A90B-4298-BD35-E26DBEC6AA9D}" srcOrd="3" destOrd="0" presId="urn:microsoft.com/office/officeart/2018/5/layout/IconCircleLabelList#2"/>
    <dgm:cxn modelId="{BEDF2176-4011-42A3-8B3C-47B60BC666E2}" type="presParOf" srcId="{89391E46-E759-42E9-BCEF-01DC608A84B0}" destId="{56BF805C-D823-4476-9ED3-411D9EC91600}" srcOrd="9" destOrd="0" presId="urn:microsoft.com/office/officeart/2018/5/layout/IconCircleLabelList#2"/>
    <dgm:cxn modelId="{E2FA06DE-E550-469C-B0A1-E43B0CF37BD8}" type="presParOf" srcId="{89391E46-E759-42E9-BCEF-01DC608A84B0}" destId="{1F07E10C-2820-4DDE-922E-339DF3B03CD1}" srcOrd="10" destOrd="0" presId="urn:microsoft.com/office/officeart/2018/5/layout/IconCircleLabelList#2"/>
    <dgm:cxn modelId="{D92CBDD9-68A8-4D1D-8EB6-6C40C99392CD}" type="presParOf" srcId="{1F07E10C-2820-4DDE-922E-339DF3B03CD1}" destId="{C360AC7B-5F0A-4280-A0E6-F3A96A0D6A9A}" srcOrd="0" destOrd="0" presId="urn:microsoft.com/office/officeart/2018/5/layout/IconCircleLabelList#2"/>
    <dgm:cxn modelId="{F6093F87-5072-48A5-90E4-290250BC5B06}" type="presParOf" srcId="{1F07E10C-2820-4DDE-922E-339DF3B03CD1}" destId="{117725E9-2C32-45A1-A7E4-6CED74815A26}" srcOrd="1" destOrd="0" presId="urn:microsoft.com/office/officeart/2018/5/layout/IconCircleLabelList#2"/>
    <dgm:cxn modelId="{43C82142-3483-4C55-8456-817AF92B0E50}" type="presParOf" srcId="{1F07E10C-2820-4DDE-922E-339DF3B03CD1}" destId="{7E8A4493-C46B-4535-8B60-416892252068}" srcOrd="2" destOrd="0" presId="urn:microsoft.com/office/officeart/2018/5/layout/IconCircleLabelList#2"/>
    <dgm:cxn modelId="{3EA32CF1-E608-428D-9929-9082A1A2522A}" type="presParOf" srcId="{1F07E10C-2820-4DDE-922E-339DF3B03CD1}" destId="{583BD770-F3EA-44FE-A64C-EE350ACC8C35}" srcOrd="3" destOrd="0" presId="urn:microsoft.com/office/officeart/2018/5/layout/IconCircleLabelList#2"/>
    <dgm:cxn modelId="{E2C24109-F5C4-486E-AD43-396BE0C950FA}" type="presParOf" srcId="{89391E46-E759-42E9-BCEF-01DC608A84B0}" destId="{5E0CCC29-5C7C-4841-9107-2DE2EE799598}" srcOrd="11" destOrd="0" presId="urn:microsoft.com/office/officeart/2018/5/layout/IconCircleLabelList#2"/>
    <dgm:cxn modelId="{D0E738DB-C04F-467C-9C87-B23C5BC101C1}" type="presParOf" srcId="{89391E46-E759-42E9-BCEF-01DC608A84B0}" destId="{63850AAA-62DE-4302-AD8F-2EF382880376}" srcOrd="12" destOrd="0" presId="urn:microsoft.com/office/officeart/2018/5/layout/IconCircleLabelList#2"/>
    <dgm:cxn modelId="{76867488-3609-4D3E-8C5D-949372A22B97}" type="presParOf" srcId="{63850AAA-62DE-4302-AD8F-2EF382880376}" destId="{09179C11-C19F-482D-9FDC-CDA095424778}" srcOrd="0" destOrd="0" presId="urn:microsoft.com/office/officeart/2018/5/layout/IconCircleLabelList#2"/>
    <dgm:cxn modelId="{777886A8-DD0A-4B9C-98B5-A3BF817F39AE}" type="presParOf" srcId="{63850AAA-62DE-4302-AD8F-2EF382880376}" destId="{749A062D-9ED9-4E8D-80D5-E1E7408B4C2E}" srcOrd="1" destOrd="0" presId="urn:microsoft.com/office/officeart/2018/5/layout/IconCircleLabelList#2"/>
    <dgm:cxn modelId="{E9CF58F4-988B-4A21-950F-DE3F99D8B6F4}" type="presParOf" srcId="{63850AAA-62DE-4302-AD8F-2EF382880376}" destId="{89EE26A2-7683-43E4-8213-0651034C9027}" srcOrd="2" destOrd="0" presId="urn:microsoft.com/office/officeart/2018/5/layout/IconCircleLabelList#2"/>
    <dgm:cxn modelId="{DC7E90B4-00DA-4835-A820-AA5C2903A36B}" type="presParOf" srcId="{63850AAA-62DE-4302-AD8F-2EF382880376}" destId="{16F9630E-2674-447B-AF0B-8176EF8B9B21}" srcOrd="3" destOrd="0" presId="urn:microsoft.com/office/officeart/2018/5/layout/IconCircleLabelList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1CABB0-A070-4552-BCBB-3BA7476B448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A0577FF-5EAC-46C0-B9A6-CD23F870450C}">
      <dgm:prSet/>
      <dgm:spPr/>
      <dgm:t>
        <a:bodyPr/>
        <a:lstStyle/>
        <a:p>
          <a:r>
            <a:rPr lang="en-US"/>
            <a:t>This analysis provides insights into debit and credit transactions across banks and branches. </a:t>
          </a:r>
        </a:p>
      </dgm:t>
    </dgm:pt>
    <dgm:pt modelId="{D179C79B-3893-4108-B376-E6AD06EF431E}" type="parTrans" cxnId="{AD460A76-CBFC-4354-89E4-B9EA2EFB6A2E}">
      <dgm:prSet/>
      <dgm:spPr/>
      <dgm:t>
        <a:bodyPr/>
        <a:lstStyle/>
        <a:p>
          <a:endParaRPr lang="en-US"/>
        </a:p>
      </dgm:t>
    </dgm:pt>
    <dgm:pt modelId="{80A70179-6597-44B8-9040-45E505DB475D}" type="sibTrans" cxnId="{AD460A76-CBFC-4354-89E4-B9EA2EFB6A2E}">
      <dgm:prSet/>
      <dgm:spPr/>
      <dgm:t>
        <a:bodyPr/>
        <a:lstStyle/>
        <a:p>
          <a:endParaRPr lang="en-US"/>
        </a:p>
      </dgm:t>
    </dgm:pt>
    <dgm:pt modelId="{F890DD51-4232-40FE-ACAE-4DAE4F2F9C52}">
      <dgm:prSet/>
      <dgm:spPr/>
      <dgm:t>
        <a:bodyPr/>
        <a:lstStyle/>
        <a:p>
          <a:r>
            <a:rPr lang="en-US"/>
            <a:t>It evaluates transaction methods, balances, customer activity, and key ratios to help understand overall financial performance.</a:t>
          </a:r>
        </a:p>
      </dgm:t>
    </dgm:pt>
    <dgm:pt modelId="{FDC2F7D2-5384-4884-ADB6-D150C4BBEF96}" type="parTrans" cxnId="{CE81D40A-FD5B-47E2-B16E-245A132984F8}">
      <dgm:prSet/>
      <dgm:spPr/>
      <dgm:t>
        <a:bodyPr/>
        <a:lstStyle/>
        <a:p>
          <a:endParaRPr lang="en-US"/>
        </a:p>
      </dgm:t>
    </dgm:pt>
    <dgm:pt modelId="{45417971-80EF-43C2-ABB9-516292EE2E9E}" type="sibTrans" cxnId="{CE81D40A-FD5B-47E2-B16E-245A132984F8}">
      <dgm:prSet/>
      <dgm:spPr/>
      <dgm:t>
        <a:bodyPr/>
        <a:lstStyle/>
        <a:p>
          <a:endParaRPr lang="en-US"/>
        </a:p>
      </dgm:t>
    </dgm:pt>
    <dgm:pt modelId="{67273D8B-BC47-4BE4-85B9-ED7EA4B824FC}" type="pres">
      <dgm:prSet presAssocID="{961CABB0-A070-4552-BCBB-3BA7476B448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9159C3D-C34B-4871-ABDC-A8435C9FC64D}" type="pres">
      <dgm:prSet presAssocID="{2A0577FF-5EAC-46C0-B9A6-CD23F870450C}" presName="hierRoot1" presStyleCnt="0"/>
      <dgm:spPr/>
    </dgm:pt>
    <dgm:pt modelId="{0407DD68-308A-4290-9CEA-A70E333ADFD9}" type="pres">
      <dgm:prSet presAssocID="{2A0577FF-5EAC-46C0-B9A6-CD23F870450C}" presName="composite" presStyleCnt="0"/>
      <dgm:spPr/>
    </dgm:pt>
    <dgm:pt modelId="{5FDC623A-AF9F-4658-974E-036CA0A51CCF}" type="pres">
      <dgm:prSet presAssocID="{2A0577FF-5EAC-46C0-B9A6-CD23F870450C}" presName="background" presStyleLbl="node0" presStyleIdx="0" presStyleCnt="2"/>
      <dgm:spPr/>
    </dgm:pt>
    <dgm:pt modelId="{966B4C44-0F12-4A2E-83F1-8C1E00FA20F8}" type="pres">
      <dgm:prSet presAssocID="{2A0577FF-5EAC-46C0-B9A6-CD23F870450C}" presName="text" presStyleLbl="fgAcc0" presStyleIdx="0" presStyleCnt="2">
        <dgm:presLayoutVars>
          <dgm:chPref val="3"/>
        </dgm:presLayoutVars>
      </dgm:prSet>
      <dgm:spPr/>
    </dgm:pt>
    <dgm:pt modelId="{A4DDE43F-F48D-4B65-8A5C-4A7B016B7932}" type="pres">
      <dgm:prSet presAssocID="{2A0577FF-5EAC-46C0-B9A6-CD23F870450C}" presName="hierChild2" presStyleCnt="0"/>
      <dgm:spPr/>
    </dgm:pt>
    <dgm:pt modelId="{7DD3508E-DFF4-462B-8CD8-2F3FB31544A2}" type="pres">
      <dgm:prSet presAssocID="{F890DD51-4232-40FE-ACAE-4DAE4F2F9C52}" presName="hierRoot1" presStyleCnt="0"/>
      <dgm:spPr/>
    </dgm:pt>
    <dgm:pt modelId="{4F5AE8C0-1823-4A5A-859D-6EDF99AB27F4}" type="pres">
      <dgm:prSet presAssocID="{F890DD51-4232-40FE-ACAE-4DAE4F2F9C52}" presName="composite" presStyleCnt="0"/>
      <dgm:spPr/>
    </dgm:pt>
    <dgm:pt modelId="{86DBB835-0809-4B52-BAF6-D6C05A4AE46E}" type="pres">
      <dgm:prSet presAssocID="{F890DD51-4232-40FE-ACAE-4DAE4F2F9C52}" presName="background" presStyleLbl="node0" presStyleIdx="1" presStyleCnt="2"/>
      <dgm:spPr/>
    </dgm:pt>
    <dgm:pt modelId="{F9B0256C-7623-40C1-A220-996E5FE386C5}" type="pres">
      <dgm:prSet presAssocID="{F890DD51-4232-40FE-ACAE-4DAE4F2F9C52}" presName="text" presStyleLbl="fgAcc0" presStyleIdx="1" presStyleCnt="2">
        <dgm:presLayoutVars>
          <dgm:chPref val="3"/>
        </dgm:presLayoutVars>
      </dgm:prSet>
      <dgm:spPr/>
    </dgm:pt>
    <dgm:pt modelId="{BFB37FE3-DEF5-4765-A8B7-7DBFF2FED916}" type="pres">
      <dgm:prSet presAssocID="{F890DD51-4232-40FE-ACAE-4DAE4F2F9C52}" presName="hierChild2" presStyleCnt="0"/>
      <dgm:spPr/>
    </dgm:pt>
  </dgm:ptLst>
  <dgm:cxnLst>
    <dgm:cxn modelId="{E2442803-78B7-4150-AE43-BF9219824235}" type="presOf" srcId="{961CABB0-A070-4552-BCBB-3BA7476B4485}" destId="{67273D8B-BC47-4BE4-85B9-ED7EA4B824FC}" srcOrd="0" destOrd="0" presId="urn:microsoft.com/office/officeart/2005/8/layout/hierarchy1"/>
    <dgm:cxn modelId="{CE81D40A-FD5B-47E2-B16E-245A132984F8}" srcId="{961CABB0-A070-4552-BCBB-3BA7476B4485}" destId="{F890DD51-4232-40FE-ACAE-4DAE4F2F9C52}" srcOrd="1" destOrd="0" parTransId="{FDC2F7D2-5384-4884-ADB6-D150C4BBEF96}" sibTransId="{45417971-80EF-43C2-ABB9-516292EE2E9E}"/>
    <dgm:cxn modelId="{AD460A76-CBFC-4354-89E4-B9EA2EFB6A2E}" srcId="{961CABB0-A070-4552-BCBB-3BA7476B4485}" destId="{2A0577FF-5EAC-46C0-B9A6-CD23F870450C}" srcOrd="0" destOrd="0" parTransId="{D179C79B-3893-4108-B376-E6AD06EF431E}" sibTransId="{80A70179-6597-44B8-9040-45E505DB475D}"/>
    <dgm:cxn modelId="{34EBEB57-3CD2-4044-9F8E-17CAB625F530}" type="presOf" srcId="{2A0577FF-5EAC-46C0-B9A6-CD23F870450C}" destId="{966B4C44-0F12-4A2E-83F1-8C1E00FA20F8}" srcOrd="0" destOrd="0" presId="urn:microsoft.com/office/officeart/2005/8/layout/hierarchy1"/>
    <dgm:cxn modelId="{54FB3BDD-EFC3-445E-9479-936F56880B09}" type="presOf" srcId="{F890DD51-4232-40FE-ACAE-4DAE4F2F9C52}" destId="{F9B0256C-7623-40C1-A220-996E5FE386C5}" srcOrd="0" destOrd="0" presId="urn:microsoft.com/office/officeart/2005/8/layout/hierarchy1"/>
    <dgm:cxn modelId="{8B7B35B1-1EF3-4E50-81F1-9E92A09BD1A5}" type="presParOf" srcId="{67273D8B-BC47-4BE4-85B9-ED7EA4B824FC}" destId="{E9159C3D-C34B-4871-ABDC-A8435C9FC64D}" srcOrd="0" destOrd="0" presId="urn:microsoft.com/office/officeart/2005/8/layout/hierarchy1"/>
    <dgm:cxn modelId="{7EB75C18-1E2A-4643-9EC9-EB952263D48A}" type="presParOf" srcId="{E9159C3D-C34B-4871-ABDC-A8435C9FC64D}" destId="{0407DD68-308A-4290-9CEA-A70E333ADFD9}" srcOrd="0" destOrd="0" presId="urn:microsoft.com/office/officeart/2005/8/layout/hierarchy1"/>
    <dgm:cxn modelId="{D74E0CD8-7244-417C-AF41-EF478E6EB47B}" type="presParOf" srcId="{0407DD68-308A-4290-9CEA-A70E333ADFD9}" destId="{5FDC623A-AF9F-4658-974E-036CA0A51CCF}" srcOrd="0" destOrd="0" presId="urn:microsoft.com/office/officeart/2005/8/layout/hierarchy1"/>
    <dgm:cxn modelId="{F97FCD49-4AEB-4B6D-9AE3-52D8100A1E8E}" type="presParOf" srcId="{0407DD68-308A-4290-9CEA-A70E333ADFD9}" destId="{966B4C44-0F12-4A2E-83F1-8C1E00FA20F8}" srcOrd="1" destOrd="0" presId="urn:microsoft.com/office/officeart/2005/8/layout/hierarchy1"/>
    <dgm:cxn modelId="{C3CBE0BF-4329-4320-A9B2-82888E0F6267}" type="presParOf" srcId="{E9159C3D-C34B-4871-ABDC-A8435C9FC64D}" destId="{A4DDE43F-F48D-4B65-8A5C-4A7B016B7932}" srcOrd="1" destOrd="0" presId="urn:microsoft.com/office/officeart/2005/8/layout/hierarchy1"/>
    <dgm:cxn modelId="{22D5B03C-E2F9-4D5B-B717-54C83D738C0E}" type="presParOf" srcId="{67273D8B-BC47-4BE4-85B9-ED7EA4B824FC}" destId="{7DD3508E-DFF4-462B-8CD8-2F3FB31544A2}" srcOrd="1" destOrd="0" presId="urn:microsoft.com/office/officeart/2005/8/layout/hierarchy1"/>
    <dgm:cxn modelId="{7AC798BC-DAF0-47D4-89E8-3360B7422FEE}" type="presParOf" srcId="{7DD3508E-DFF4-462B-8CD8-2F3FB31544A2}" destId="{4F5AE8C0-1823-4A5A-859D-6EDF99AB27F4}" srcOrd="0" destOrd="0" presId="urn:microsoft.com/office/officeart/2005/8/layout/hierarchy1"/>
    <dgm:cxn modelId="{87651165-DF9D-405E-828E-C5E50BC2F7D7}" type="presParOf" srcId="{4F5AE8C0-1823-4A5A-859D-6EDF99AB27F4}" destId="{86DBB835-0809-4B52-BAF6-D6C05A4AE46E}" srcOrd="0" destOrd="0" presId="urn:microsoft.com/office/officeart/2005/8/layout/hierarchy1"/>
    <dgm:cxn modelId="{E3612157-9C77-4CA4-B2B3-4A75391E7E0A}" type="presParOf" srcId="{4F5AE8C0-1823-4A5A-859D-6EDF99AB27F4}" destId="{F9B0256C-7623-40C1-A220-996E5FE386C5}" srcOrd="1" destOrd="0" presId="urn:microsoft.com/office/officeart/2005/8/layout/hierarchy1"/>
    <dgm:cxn modelId="{65ED0EE3-676A-4B03-AB17-79A80894247C}" type="presParOf" srcId="{7DD3508E-DFF4-462B-8CD8-2F3FB31544A2}" destId="{BFB37FE3-DEF5-4765-A8B7-7DBFF2FED91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C969E9-C7B5-4300-8338-7A4C0F2E38BF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1E2F2-36D5-4687-A446-AA83F7C88857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567338-400C-4E6D-8FBC-8BA0A2BCEDA6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Introduction</a:t>
          </a:r>
        </a:p>
      </dsp:txBody>
      <dsp:txXfrm>
        <a:off x="518589" y="1265836"/>
        <a:ext cx="1582031" cy="632812"/>
      </dsp:txXfrm>
    </dsp:sp>
    <dsp:sp modelId="{A970E8E7-FF11-4C62-871B-74E1AD858212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DEEE6-7316-42F4-ADA1-FF26CB32A23F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B600F-3743-47F1-83CF-BF6A0E582D36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Objectives</a:t>
          </a:r>
        </a:p>
      </dsp:txBody>
      <dsp:txXfrm>
        <a:off x="2377476" y="1265836"/>
        <a:ext cx="1582031" cy="632812"/>
      </dsp:txXfrm>
    </dsp:sp>
    <dsp:sp modelId="{69A30654-F823-4E2F-84F2-51A9E853F186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44A3A6-5D96-4193-9FE4-BD9486B704DC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1E236-9115-47D8-B77F-82FC2935656C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Tools used for Data analysis and their limitations</a:t>
          </a:r>
        </a:p>
      </dsp:txBody>
      <dsp:txXfrm>
        <a:off x="4236363" y="1265836"/>
        <a:ext cx="1582031" cy="632812"/>
      </dsp:txXfrm>
    </dsp:sp>
    <dsp:sp modelId="{062E6720-DE5E-4FCD-8BDE-DACE7EA84051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B31D72-F459-463F-9323-EF9336284C55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DD17E-499A-41EF-8983-C3D7B96FE110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Dashboard</a:t>
          </a:r>
        </a:p>
      </dsp:txBody>
      <dsp:txXfrm>
        <a:off x="6095249" y="1265836"/>
        <a:ext cx="1582031" cy="632812"/>
      </dsp:txXfrm>
    </dsp:sp>
    <dsp:sp modelId="{A120DC5F-1205-496A-8D77-C0F2A08BF357}">
      <dsp:nvSpPr>
        <dsp:cNvPr id="0" name=""/>
        <dsp:cNvSpPr/>
      </dsp:nvSpPr>
      <dsp:spPr>
        <a:xfrm>
          <a:off x="1756529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DD9059-9952-467E-B19E-3A80780475A4}">
      <dsp:nvSpPr>
        <dsp:cNvPr id="0" name=""/>
        <dsp:cNvSpPr/>
      </dsp:nvSpPr>
      <dsp:spPr>
        <a:xfrm>
          <a:off x="1962193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5CAB5-A90B-4298-BD35-E26DBEC6AA9D}">
      <dsp:nvSpPr>
        <dsp:cNvPr id="0" name=""/>
        <dsp:cNvSpPr/>
      </dsp:nvSpPr>
      <dsp:spPr>
        <a:xfrm>
          <a:off x="1448033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Findings</a:t>
          </a:r>
        </a:p>
      </dsp:txBody>
      <dsp:txXfrm>
        <a:off x="1448033" y="3559781"/>
        <a:ext cx="1582031" cy="632812"/>
      </dsp:txXfrm>
    </dsp:sp>
    <dsp:sp modelId="{C360AC7B-5F0A-4280-A0E6-F3A96A0D6A9A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7725E9-2C32-45A1-A7E4-6CED74815A26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BD770-F3EA-44FE-A64C-EE350ACC8C35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Summary</a:t>
          </a:r>
        </a:p>
      </dsp:txBody>
      <dsp:txXfrm>
        <a:off x="3306919" y="3559781"/>
        <a:ext cx="1582031" cy="632812"/>
      </dsp:txXfrm>
    </dsp:sp>
    <dsp:sp modelId="{09179C11-C19F-482D-9FDC-CDA095424778}">
      <dsp:nvSpPr>
        <dsp:cNvPr id="0" name=""/>
        <dsp:cNvSpPr/>
      </dsp:nvSpPr>
      <dsp:spPr>
        <a:xfrm>
          <a:off x="5474302" y="2294156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9A062D-9ED9-4E8D-80D5-E1E7408B4C2E}">
      <dsp:nvSpPr>
        <dsp:cNvPr id="0" name=""/>
        <dsp:cNvSpPr/>
      </dsp:nvSpPr>
      <dsp:spPr>
        <a:xfrm>
          <a:off x="5679966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F9630E-2674-447B-AF0B-8176EF8B9B21}">
      <dsp:nvSpPr>
        <dsp:cNvPr id="0" name=""/>
        <dsp:cNvSpPr/>
      </dsp:nvSpPr>
      <dsp:spPr>
        <a:xfrm>
          <a:off x="5165806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Conclusion</a:t>
          </a:r>
        </a:p>
      </dsp:txBody>
      <dsp:txXfrm>
        <a:off x="5165806" y="3559781"/>
        <a:ext cx="1582031" cy="632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DC623A-AF9F-4658-974E-036CA0A51CCF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B4C44-0F12-4A2E-83F1-8C1E00FA20F8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analysis provides insights into debit and credit transactions across banks and branches. </a:t>
          </a:r>
        </a:p>
      </dsp:txBody>
      <dsp:txXfrm>
        <a:off x="456496" y="980400"/>
        <a:ext cx="3381034" cy="2099279"/>
      </dsp:txXfrm>
    </dsp:sp>
    <dsp:sp modelId="{86DBB835-0809-4B52-BAF6-D6C05A4AE46E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0256C-7623-40C1-A220-996E5FE386C5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It evaluates transaction methods, balances, customer activity, and key ratios to help understand overall financial performance.</a:t>
          </a:r>
        </a:p>
      </dsp:txBody>
      <dsp:txXfrm>
        <a:off x="4748523" y="980400"/>
        <a:ext cx="3381034" cy="2099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#2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57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172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101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798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88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430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8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17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240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190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5053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657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453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48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513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895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A8322-D85E-6154-D093-9DABB0151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D08C5-2C4B-5E4D-7AA0-CD22147D0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8952E-CAAC-3655-A5DF-0CFB4433C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EE004-131B-EBB5-96A1-A18961275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5FBF-8FDE-BCE2-2E4D-EF4437FA1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66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B00C7-27BB-D27A-6664-F44B04F0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FE020-4F0E-DFB7-BF04-F75BC3FE6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0B249-3910-CD6E-5FCC-10996B53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D30DE-3E2F-DABF-9361-E6F802358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65A13-CCBA-8719-6D95-D0738EEE9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3959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21D07-EB02-892E-9018-79FA4BEE1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DC0FA-BC91-BA4B-89DD-BCF2DA82D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86D76-7579-D8DF-8C23-39A2EB0F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02F56-6381-CFBE-F9EE-80578FB4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AAD2B-F25C-DC82-1535-8F65964C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5715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25BE1-5E74-01DD-FE82-695EE71E8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B9059-6E2F-64E8-06C0-8579A4A365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81AD8-F779-DC0C-D0D5-49EA11A5C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38904-3FB5-EC8F-AC78-3C5372D62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8D798-6513-FEDC-F112-BDF4C84D7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66013-3F0A-A2BC-83BD-0B70F3D5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597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BD62-4D20-199D-1C47-9EB828A0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9EFD5-8B89-78FA-C724-58271794D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8907A-814F-DFD9-BB9A-3E5B40202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CB0D2-3310-645F-883B-972C9DB28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C1FC3-2CF9-D3AE-7881-40B4A0824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0A8ACD-43CF-90D0-6A08-8D2783A9A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554129-CC84-B8A0-5289-B56858693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30EB1-5C98-330B-09EF-7E819EB55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8447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38F3-5571-ADCD-B2D2-0744624B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1E455B-32E6-57BF-F0D9-8E6ACDEE2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5C5764-F495-D10E-6A2B-784A0B2B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F9715-8802-7692-62F0-3AB9B9260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93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58C0AD-3BA5-F295-787C-459FA8989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FBA76-5334-6059-31E6-8065BF73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BC71C-0A91-AB58-5531-A87CF557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171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1D690-CA34-D8F9-914E-31AE3F92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51AB7-3246-6CCA-D8C5-FDD9CC3CB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CA6CC-00B4-2C6B-9238-95E0F2F11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A2D4F-E902-08D9-1E09-97565E2B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DCD64-41E1-8C53-48D7-EA0353C1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B2990-5482-DA37-7CC0-09697E0CA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4171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0B9E-FBDA-D0BA-BC6B-7C0FB4F37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D01B81-1156-BF2B-E2B8-868A01B40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2E831-975E-1502-3849-370ED0C6B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3DC68-3D7F-0529-BD89-D4034AC11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3840D-FF47-4E0B-2A75-B4BE3F243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A82C3-C783-E22B-ACF8-42433A04A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32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03EF-AE6D-68A4-4695-F7FCBEA1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A3846-B6F1-7CDE-82EB-D231F2F42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A1613-297F-9616-5290-4442F0A9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1AEC0-4A25-198E-0412-176EDF906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5A4D-942F-B057-0ACC-80C979186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1498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47583E-F5C3-BBDE-D0EC-CA40BF21C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3D9F6-C806-D9F9-6DE3-488AAA53D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8C6A9-BF53-34EC-A5BA-2EF733AF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F713F-6C3A-6807-1DB7-029B4F02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8BF19-F8B9-A408-F86D-4EE9536A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560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4598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170A3D-6755-E6DA-0C01-BF29D0933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EC3E5-B371-E459-45EA-11556859B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A3F7B-839E-121F-6DFA-FB8AC516A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C8C8B-4BB7-4121-B42B-6DD4C0E66C7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E0597-EF7C-FC66-A620-D88062212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173A6-801B-AA42-F054-145877C57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10BF2-8771-46D8-9C3C-CD725DDA3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255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1409C-DA16-1B74-A236-D9E0D634A2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Analysis of Bank Analytics Dashboard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6C9B5-A8F8-3859-4901-BCEA73B8F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461" y="4162933"/>
            <a:ext cx="8917542" cy="255197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Presented by:-</a:t>
            </a:r>
          </a:p>
          <a:p>
            <a:pPr lvl="4" algn="l"/>
            <a:r>
              <a:rPr lang="en-US" sz="2000" dirty="0"/>
              <a:t>Ajay</a:t>
            </a:r>
          </a:p>
          <a:p>
            <a:pPr lvl="4" algn="l"/>
            <a:r>
              <a:rPr lang="en-US" sz="2000" dirty="0"/>
              <a:t>Shobha</a:t>
            </a:r>
          </a:p>
          <a:p>
            <a:pPr lvl="4" algn="l"/>
            <a:r>
              <a:rPr lang="en-US" sz="2000" dirty="0"/>
              <a:t>Sravanthi</a:t>
            </a:r>
          </a:p>
          <a:p>
            <a:pPr lvl="4" algn="l"/>
            <a:r>
              <a:rPr lang="en-US" sz="2000" dirty="0" err="1"/>
              <a:t>ronak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70338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0C68-F68A-67D9-8664-488E98138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65744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8F27B-BB91-A8A4-9240-80C32D272C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Methodology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468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8BB1-8448-2E5B-2407-F384FEC601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altLang="en-US" dirty="0">
                <a:solidFill>
                  <a:schemeClr val="tx1"/>
                </a:solidFill>
                <a:latin typeface="Open Sans Extra Bold" panose="020B0906030804020204"/>
              </a:rPr>
              <a:t>Introduction</a:t>
            </a:r>
            <a:br>
              <a:rPr lang="en-IN" altLang="en-US" dirty="0">
                <a:solidFill>
                  <a:schemeClr val="tx1"/>
                </a:solidFill>
                <a:latin typeface="Open Sans Extra Bold" panose="020B0906030804020204"/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ABC87D-ECAA-76EC-E982-57AE64468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956" y="4050833"/>
            <a:ext cx="8871047" cy="280716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Banks rely on loans as their primary source of income (through interest).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loan monitoring ensures profitability and risk control.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Loan Dashboard provides a visual overview of lending performance.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Covers disbursement, collections, defaults, risk, and customer segments.</a:t>
            </a:r>
          </a:p>
        </p:txBody>
      </p:sp>
    </p:spTree>
    <p:extLst>
      <p:ext uri="{BB962C8B-B14F-4D97-AF65-F5344CB8AC3E}">
        <p14:creationId xmlns:p14="http://schemas.microsoft.com/office/powerpoint/2010/main" val="401081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FB40D-6BE4-3B34-C863-82B15CC5E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38449"/>
          </a:xfrm>
        </p:spPr>
        <p:txBody>
          <a:bodyPr anchor="ctr"/>
          <a:lstStyle/>
          <a:p>
            <a:pPr algn="ctr"/>
            <a:r>
              <a:rPr lang="en-IN" altLang="en-US" dirty="0">
                <a:solidFill>
                  <a:schemeClr val="tx1"/>
                </a:solidFill>
                <a:latin typeface="Open Sans Extra Bold" panose="020B0906030804020204"/>
              </a:rPr>
              <a:t> Objectives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B0885-ECD1-50ED-2F52-4C9FB5D55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7904" y="2398595"/>
            <a:ext cx="11324095" cy="479718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nva Sans" panose="020B0503030501040103"/>
              </a:rPr>
              <a:t>To analyze total loan disbursement and collections.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nva Sans" panose="020B0503030501040103"/>
              </a:rPr>
              <a:t>To evaluate branch-wise, state-wise, and product-wise loan performance.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nva Sans" panose="020B0503030501040103"/>
              </a:rPr>
              <a:t>To identify defaulted and delinquent loans for risk management.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nva Sans" panose="020B0503030501040103"/>
              </a:rPr>
              <a:t>To understand borrower demographics (age, religion, credit grade).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nva Sans" panose="020B0503030501040103"/>
              </a:rPr>
              <a:t>To track loan trends over time and forecast growth.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nva Sans" panose="020B0503030501040103"/>
              </a:rPr>
              <a:t>To provide stakeholders with actionable insights for decision-making</a:t>
            </a:r>
            <a:r>
              <a:rPr lang="en-GB" dirty="0">
                <a:solidFill>
                  <a:schemeClr val="tx1"/>
                </a:solidFill>
                <a:latin typeface="Canva Sans" panose="020B0503030501040103"/>
              </a:rPr>
              <a:t> </a:t>
            </a:r>
            <a:endParaRPr lang="en-US" dirty="0">
              <a:solidFill>
                <a:schemeClr val="tx1"/>
              </a:solidFill>
              <a:latin typeface="Canva Sans" panose="020B0503030501040103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020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63C4C-8C07-512B-41C7-CD759C684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4738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IN" altLang="en-US" dirty="0">
                <a:solidFill>
                  <a:schemeClr val="tx1"/>
                </a:solidFill>
                <a:latin typeface="Open Sans Extra Bold" panose="020B0906030804020204"/>
                <a:sym typeface="+mn-ea"/>
              </a:rPr>
              <a:t>Tools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CF3CB-D7F6-8671-F51F-127F2917A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414" y="2511188"/>
            <a:ext cx="11401586" cy="4346812"/>
          </a:xfrm>
        </p:spPr>
        <p:txBody>
          <a:bodyPr/>
          <a:lstStyle/>
          <a:p>
            <a:pPr algn="l"/>
            <a:r>
              <a:rPr lang="en-US" altLang="en-US" b="1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Excel 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→ Data cleaning &amp; initial dashboard creation.</a:t>
            </a:r>
          </a:p>
          <a:p>
            <a:pPr algn="l"/>
            <a:r>
              <a:rPr lang="en-US" altLang="en-US" b="1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SQL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→ Loading loan datasets into a structured database.</a:t>
            </a:r>
          </a:p>
          <a:p>
            <a:pPr algn="l"/>
            <a:r>
              <a:rPr lang="en-US" altLang="en-US" b="1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Power BI / Tableau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→ Data modeling, visualization, interactive dashboards.</a:t>
            </a:r>
          </a:p>
          <a:p>
            <a:pPr algn="l"/>
            <a:r>
              <a:rPr lang="en-US" altLang="en-US" b="1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Visualization Features Used: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Slicers</a:t>
            </a:r>
            <a:r>
              <a:rPr lang="en-IN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(branch, state, product type).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Drill-down charts</a:t>
            </a:r>
            <a:r>
              <a:rPr lang="en-IN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(branch → loan → customer).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KPIs with card visuals</a:t>
            </a:r>
            <a:r>
              <a:rPr lang="en-IN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Canva Sans" panose="020B0503030501040103"/>
                <a:sym typeface="+mn-ea"/>
              </a:rPr>
              <a:t> (Total Loan Amount, Default Rate).</a:t>
            </a:r>
          </a:p>
          <a:p>
            <a:pPr algn="l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12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45DE-E312-EBCD-AF2E-953AD8A13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8740"/>
          </a:xfrm>
        </p:spPr>
        <p:txBody>
          <a:bodyPr>
            <a:normAutofit fontScale="90000"/>
          </a:bodyPr>
          <a:lstStyle/>
          <a:p>
            <a:pPr algn="ctr"/>
            <a:r>
              <a:rPr lang="en-IN" altLang="en-US" dirty="0">
                <a:solidFill>
                  <a:schemeClr val="accent6">
                    <a:lumMod val="75000"/>
                  </a:schemeClr>
                </a:solidFill>
                <a:latin typeface="Open Sans Extra Bold" panose="020B0906030804020204"/>
              </a:rPr>
              <a:t> EXCEL DASHBOARD</a:t>
            </a:r>
            <a:endParaRPr lang="en-IN" dirty="0"/>
          </a:p>
        </p:txBody>
      </p:sp>
      <p:pic>
        <p:nvPicPr>
          <p:cNvPr id="3" name="Picture 2" descr="Screenshot (63)">
            <a:extLst>
              <a:ext uri="{FF2B5EF4-FFF2-40B4-BE49-F238E27FC236}">
                <a16:creationId xmlns:a16="http://schemas.microsoft.com/office/drawing/2014/main" id="{63399EBD-9C9C-7BEB-43CC-969E29285B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1" t="12500" r="28331" b="5208"/>
          <a:stretch>
            <a:fillRect/>
          </a:stretch>
        </p:blipFill>
        <p:spPr>
          <a:xfrm>
            <a:off x="0" y="668740"/>
            <a:ext cx="12192000" cy="618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5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BACA4-213B-9B86-F5BC-A6385933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49275"/>
          </a:xfrm>
        </p:spPr>
        <p:txBody>
          <a:bodyPr>
            <a:normAutofit fontScale="90000"/>
          </a:bodyPr>
          <a:lstStyle/>
          <a:p>
            <a:pPr algn="ctr">
              <a:lnSpc>
                <a:spcPts val="4615"/>
              </a:lnSpc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POWERBI DASHBOARD</a:t>
            </a:r>
            <a:endParaRPr lang="en-IN" dirty="0"/>
          </a:p>
        </p:txBody>
      </p:sp>
      <p:pic>
        <p:nvPicPr>
          <p:cNvPr id="3" name="Picture 2" descr="Screenshot (64)">
            <a:extLst>
              <a:ext uri="{FF2B5EF4-FFF2-40B4-BE49-F238E27FC236}">
                <a16:creationId xmlns:a16="http://schemas.microsoft.com/office/drawing/2014/main" id="{F200D026-F041-9DC3-727D-D6EE8F4592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20" t="14414" r="15875" b="14414"/>
          <a:stretch>
            <a:fillRect/>
          </a:stretch>
        </p:blipFill>
        <p:spPr>
          <a:xfrm>
            <a:off x="0" y="549274"/>
            <a:ext cx="12192000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B5A9-E60E-BA02-AA40-DD8CB7D15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98565"/>
          </a:xfrm>
        </p:spPr>
        <p:txBody>
          <a:bodyPr/>
          <a:lstStyle/>
          <a:p>
            <a:pPr algn="ctr"/>
            <a:r>
              <a:rPr lang="en-IN" altLang="en-US" dirty="0">
                <a:solidFill>
                  <a:srgbClr val="E6682B"/>
                </a:solidFill>
                <a:latin typeface="Open Sans Extra Bold" panose="020B0906030804020204"/>
              </a:rPr>
              <a:t> TABLEAU DASHBOARD</a:t>
            </a:r>
            <a:r>
              <a:rPr lang="en-US" dirty="0">
                <a:solidFill>
                  <a:srgbClr val="E6682B"/>
                </a:solidFill>
                <a:latin typeface="Open Sans Extra Bold" panose="020B0906030804020204"/>
              </a:rPr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1FC14-5304-1428-6B23-FF089E6A1F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" b="3442"/>
          <a:stretch>
            <a:fillRect/>
          </a:stretch>
        </p:blipFill>
        <p:spPr>
          <a:xfrm>
            <a:off x="0" y="838548"/>
            <a:ext cx="12191999" cy="601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27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"/>
          <p:cNvPicPr>
            <a:picLocks noChangeAspect="1"/>
          </p:cNvPicPr>
          <p:nvPr/>
        </p:nvPicPr>
        <p:blipFill>
          <a:blip r:embed="rId2"/>
          <a:srcRect b="18900"/>
          <a:stretch>
            <a:fillRect/>
          </a:stretch>
        </p:blipFill>
        <p:spPr>
          <a:xfrm>
            <a:off x="50800" y="685800"/>
            <a:ext cx="6192097" cy="2631017"/>
          </a:xfrm>
          <a:prstGeom prst="rect">
            <a:avLst/>
          </a:prstGeom>
        </p:spPr>
      </p:pic>
      <p:pic>
        <p:nvPicPr>
          <p:cNvPr id="3" name="Picture 2" descr="2"/>
          <p:cNvPicPr>
            <a:picLocks noChangeAspect="1"/>
          </p:cNvPicPr>
          <p:nvPr/>
        </p:nvPicPr>
        <p:blipFill>
          <a:blip r:embed="rId3"/>
          <a:srcRect b="17991"/>
          <a:stretch>
            <a:fillRect/>
          </a:stretch>
        </p:blipFill>
        <p:spPr>
          <a:xfrm>
            <a:off x="6807200" y="939800"/>
            <a:ext cx="4842510" cy="2273300"/>
          </a:xfrm>
          <a:prstGeom prst="rect">
            <a:avLst/>
          </a:prstGeom>
        </p:spPr>
      </p:pic>
      <p:pic>
        <p:nvPicPr>
          <p:cNvPr id="4" name="Picture 3" descr="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" y="3628813"/>
            <a:ext cx="5618057" cy="3208020"/>
          </a:xfrm>
          <a:prstGeom prst="rect">
            <a:avLst/>
          </a:prstGeom>
        </p:spPr>
      </p:pic>
      <p:pic>
        <p:nvPicPr>
          <p:cNvPr id="5" name="Picture 4" descr="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801" y="3479800"/>
            <a:ext cx="4745143" cy="329565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4521200" y="177800"/>
            <a:ext cx="4064000" cy="563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SQL SNAPSHOTS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8FA99-FAE4-4394-9088-CCDBE1E83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54410"/>
          </a:xfrm>
        </p:spPr>
        <p:txBody>
          <a:bodyPr anchor="ctr"/>
          <a:lstStyle/>
          <a:p>
            <a:pPr algn="ctr"/>
            <a:r>
              <a:rPr lang="en-IN" altLang="en-US" dirty="0">
                <a:solidFill>
                  <a:schemeClr val="tx1"/>
                </a:solidFill>
                <a:latin typeface="Open Sans Extra Bold" panose="020B0906030804020204"/>
              </a:rPr>
              <a:t>LIMITATIONS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87903-0CC0-62A7-6BEC-C3E64E8C5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936" y="2650210"/>
            <a:ext cx="11603064" cy="420779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Data Dependency: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 Accuracy depends on quality of loan records.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Data Privacy: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 Customer-sensitive data must be secured.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Time Lag: 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Dashboard may not reflect real-time data.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Scope Limitations: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 Focuses on loans only (not overall banking).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cs typeface="+mj-lt"/>
              </a:rPr>
              <a:t>External Factors: </a:t>
            </a:r>
            <a:r>
              <a:rPr lang="en-US" altLang="en-US" dirty="0">
                <a:solidFill>
                  <a:schemeClr val="tx1"/>
                </a:solidFill>
                <a:cs typeface="+mj-lt"/>
              </a:rPr>
              <a:t>Doesn’t include macroeconomic risks (interest rate hikes, inflation).</a:t>
            </a:r>
          </a:p>
          <a:p>
            <a:pPr algn="l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063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E6254-1CBC-3A43-1282-430965E05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61420"/>
          </a:xfrm>
        </p:spPr>
        <p:txBody>
          <a:bodyPr anchor="ctr">
            <a:normAutofit fontScale="90000"/>
          </a:bodyPr>
          <a:lstStyle/>
          <a:p>
            <a:pPr lvl="0" algn="ctr">
              <a:lnSpc>
                <a:spcPts val="8750"/>
              </a:lnSpc>
            </a:pPr>
            <a:r>
              <a:rPr lang="en-IN" altLang="en-US" dirty="0">
                <a:solidFill>
                  <a:schemeClr val="tx1"/>
                </a:solidFill>
                <a:latin typeface="Open Sans Extra Bold" panose="020B0906030804020204"/>
              </a:rPr>
              <a:t> KEY FINDINGS</a:t>
            </a:r>
            <a:r>
              <a:rPr lang="en-US" dirty="0">
                <a:solidFill>
                  <a:schemeClr val="tx1"/>
                </a:solidFill>
                <a:latin typeface="Open Sans Extra Bold" panose="020B0906030804020204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382AF-E025-4A31-CD4D-F19A9284A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426" y="2340244"/>
            <a:ext cx="11525573" cy="451775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Loan Disbursement in certain states/branches → growth hubs.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Loan Rate higher in specific branches → requires stricter screening.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Delinquent Clients concentrated in younger age groups → repayment issues.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Group Insights: Personal loans have higher defaults; auto/home loans more stable.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Insights: Interest income is a major revenue driver; fees contribute less.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Gaps: Significant loans without verification → compliance risk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100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89552-6372-BDBF-E274-1E19F834D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3743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IN" altLang="en-US" dirty="0">
                <a:solidFill>
                  <a:schemeClr val="tx1"/>
                </a:solidFill>
                <a:latin typeface="Open Sans Extra Bold" panose="020B0906030804020204"/>
              </a:rPr>
              <a:t>SUMMARY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8D441-8439-92F0-C819-61FEE1361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936" y="2588217"/>
            <a:ext cx="11406752" cy="410705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Loan Dashboard provides a holistic view of loan portfolio health.</a:t>
            </a:r>
            <a:endParaRPr lang="en-IN" alt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KPIs (Total Loans, Collection, Interest) → measure profitability.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Risk Metrics (Default/Delinquency Rates) → highlight problem areas.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Demographic Segmentation → helps design targeted loan products.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Geographic/Branch Analysis → guides resource allocation</a:t>
            </a:r>
          </a:p>
          <a:p>
            <a:pPr algn="l"/>
            <a:endParaRPr lang="en-US" alt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651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19DE-BF93-327E-EDE6-C3468048D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07915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Open Sans Extra Bold" panose="020B0906030804020204"/>
              </a:rPr>
              <a:t>Conclusion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8C7C8-AC14-FC88-EAD5-5B9DBC2A3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4434" y="2820692"/>
            <a:ext cx="11587566" cy="403730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100" kern="100" dirty="0">
                <a:latin typeface="Canva Sans" panose="020B0503030501040103" charset="0"/>
                <a:ea typeface="Calibri" panose="020F0502020204030204" pitchFamily="34" charset="0"/>
                <a:cs typeface="Times New Roman" panose="02020603050405020304" pitchFamily="18" charset="0"/>
              </a:rPr>
              <a:t>The dashboard helps banks balance growth and risk.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100" kern="100" dirty="0">
                <a:latin typeface="Canva Sans" panose="020B0503030501040103" charset="0"/>
                <a:ea typeface="Calibri" panose="020F0502020204030204" pitchFamily="34" charset="0"/>
                <a:cs typeface="Times New Roman" panose="02020603050405020304" pitchFamily="18" charset="0"/>
              </a:rPr>
              <a:t>Identifies profitable products &amp; branches while flagging risk zones.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100" kern="100" dirty="0">
                <a:latin typeface="Canva Sans" panose="020B0503030501040103" charset="0"/>
                <a:ea typeface="Calibri" panose="020F0502020204030204" pitchFamily="34" charset="0"/>
                <a:cs typeface="Times New Roman" panose="02020603050405020304" pitchFamily="18" charset="0"/>
              </a:rPr>
              <a:t>Enables data-driven decision-making for loan strategy.</a:t>
            </a:r>
          </a:p>
          <a:p>
            <a:pPr algn="l"/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577928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2BAD6-24D3-3BAE-A117-81376989B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767" y="2221424"/>
            <a:ext cx="8596668" cy="1320800"/>
          </a:xfrm>
        </p:spPr>
        <p:txBody>
          <a:bodyPr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chemeClr val="tx1"/>
                </a:solidFill>
              </a:rPr>
              <a:t>Debit and Credit Dashboard Analysis</a:t>
            </a:r>
            <a:br>
              <a:rPr lang="en-US" sz="4000" b="1" dirty="0">
                <a:solidFill>
                  <a:schemeClr val="tx1"/>
                </a:solidFill>
              </a:rPr>
            </a:b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808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E8872-E0C5-B8A4-92EA-92437301D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INDEX</a:t>
            </a:r>
            <a:endParaRPr lang="en-IN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2F0FCD2-D501-7F7C-D22A-9557D30E83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4582604"/>
              </p:ext>
            </p:extLst>
          </p:nvPr>
        </p:nvGraphicFramePr>
        <p:xfrm>
          <a:off x="1078131" y="1690688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2542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A8608-5F06-E654-62F9-34AA86FD2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269" y="609600"/>
            <a:ext cx="8596668" cy="1320800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777CD84D-4D90-71A9-308E-E739553943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2258590"/>
              </p:ext>
            </p:extLst>
          </p:nvPr>
        </p:nvGraphicFramePr>
        <p:xfrm>
          <a:off x="1998064" y="2151030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1100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83DA-0D4F-9757-C94D-505001492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0014"/>
            <a:ext cx="9144000" cy="923413"/>
          </a:xfrm>
        </p:spPr>
        <p:txBody>
          <a:bodyPr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F11EA-D2B6-D39C-D443-43894BE9C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32" y="2517157"/>
            <a:ext cx="12192000" cy="325596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debit and credit transactions across different banks and branches.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transaction methods (Bank Transfer, Credit Card, Debit Card).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KPIs like Net Transaction Amount, Credit to Debit Ratio, and Activity Ratios.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top customers and bank performance trends.</a:t>
            </a:r>
          </a:p>
          <a:p>
            <a:pPr algn="l"/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387249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FFCA2-0706-0E01-B21A-6879B852C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8396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 for Data Analysis and Limitations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CBD394-3D18-611C-4CF8-32455CE51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420" y="2805193"/>
            <a:ext cx="11463580" cy="4052807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Excel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excel:- Limited charting options for visual designing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Tableau Public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Tableau Public :- Only allows access to the local data sources, being able to publish publicly only, and no data automation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Power BI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Power Bi:- Slow performance with large data sets</a:t>
            </a: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776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F45B6-652D-1B23-7D52-61608772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12746"/>
          </a:xfrm>
        </p:spPr>
        <p:txBody>
          <a:bodyPr/>
          <a:lstStyle/>
          <a:p>
            <a:pPr algn="ctr"/>
            <a:r>
              <a:rPr lang="en-US" dirty="0"/>
              <a:t>Excel Dashboard</a:t>
            </a:r>
            <a:endParaRPr lang="en-IN" dirty="0"/>
          </a:p>
        </p:txBody>
      </p:sp>
      <p:pic>
        <p:nvPicPr>
          <p:cNvPr id="3" name="Picture 2" descr="Screenshot 2025-08-30 125144.png">
            <a:extLst>
              <a:ext uri="{FF2B5EF4-FFF2-40B4-BE49-F238E27FC236}">
                <a16:creationId xmlns:a16="http://schemas.microsoft.com/office/drawing/2014/main" id="{16899E78-BF6A-8226-4026-E5BC267F9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2746"/>
            <a:ext cx="12192000" cy="604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33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B25A-C167-4104-21A2-EC7B0195A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66251"/>
          </a:xfrm>
        </p:spPr>
        <p:txBody>
          <a:bodyPr/>
          <a:lstStyle/>
          <a:p>
            <a:pPr algn="ctr"/>
            <a:r>
              <a:rPr lang="en-US" dirty="0"/>
              <a:t>Tableau Dashboard</a:t>
            </a:r>
            <a:endParaRPr lang="en-IN" dirty="0"/>
          </a:p>
        </p:txBody>
      </p:sp>
      <p:pic>
        <p:nvPicPr>
          <p:cNvPr id="3" name="Picture 2" descr="Screenshot 2025-08-30 124051.png">
            <a:extLst>
              <a:ext uri="{FF2B5EF4-FFF2-40B4-BE49-F238E27FC236}">
                <a16:creationId xmlns:a16="http://schemas.microsoft.com/office/drawing/2014/main" id="{7D2CFDFD-2762-8033-3B26-D0A2F5241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352"/>
            <a:ext cx="12192000" cy="608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89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2E758-FEA1-98C5-C0D7-278998DC1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3919"/>
          </a:xfrm>
        </p:spPr>
        <p:txBody>
          <a:bodyPr/>
          <a:lstStyle/>
          <a:p>
            <a:pPr algn="ctr"/>
            <a:r>
              <a:rPr lang="en-US" dirty="0" err="1"/>
              <a:t>PowerBi</a:t>
            </a:r>
            <a:r>
              <a:rPr lang="en-US" dirty="0"/>
              <a:t> Dashboard</a:t>
            </a:r>
            <a:endParaRPr lang="en-IN" dirty="0"/>
          </a:p>
        </p:txBody>
      </p:sp>
      <p:pic>
        <p:nvPicPr>
          <p:cNvPr id="3" name="Picture 2" descr="Screenshot 2025-08-30 123819.png">
            <a:extLst>
              <a:ext uri="{FF2B5EF4-FFF2-40B4-BE49-F238E27FC236}">
                <a16:creationId xmlns:a16="http://schemas.microsoft.com/office/drawing/2014/main" id="{770F6BC8-D372-33F0-BA37-C42A0DE4F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7905"/>
            <a:ext cx="12192000" cy="593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368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A578C-127C-C07D-A9F1-2676342A6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47400"/>
          </a:xfrm>
        </p:spPr>
        <p:txBody>
          <a:bodyPr anchor="ctr"/>
          <a:lstStyle/>
          <a:p>
            <a:pPr algn="ctr"/>
            <a:r>
              <a:rPr lang="en-US" dirty="0"/>
              <a:t>Findings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3DEE6-37C9-9CC2-3198-8B3BFCDE0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247" y="2628644"/>
            <a:ext cx="11262102" cy="3255962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latin typeface="Amasis MT Pro Medium" panose="02040604050005020304" pitchFamily="18" charset="0"/>
              </a:rPr>
              <a:t>Credit to Debit Ratio is stable across transactions.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latin typeface="Amasis MT Pro Medium" panose="02040604050005020304" pitchFamily="18" charset="0"/>
              </a:rPr>
              <a:t>Net Transaction Amount highlights significant activity.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latin typeface="Amasis MT Pro Medium" panose="02040604050005020304" pitchFamily="18" charset="0"/>
              </a:rPr>
              <a:t>Branch and Bank-wise distribution identifies high contributors.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latin typeface="Amasis MT Pro Medium" panose="02040604050005020304" pitchFamily="18" charset="0"/>
              </a:rPr>
              <a:t>Customer-level analysis shows key clients driving transaction volumes.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>
                <a:latin typeface="Amasis MT Pro Medium" panose="02040604050005020304" pitchFamily="18" charset="0"/>
              </a:rPr>
              <a:t>Transaction trends reveal seasonal and method-based variations.</a:t>
            </a:r>
          </a:p>
          <a:p>
            <a:pPr algn="l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42018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6B658-0C1D-389C-8EC7-51F5AC95E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69908"/>
          </a:xfrm>
        </p:spPr>
        <p:txBody>
          <a:bodyPr anchor="ctr"/>
          <a:lstStyle/>
          <a:p>
            <a:pPr algn="ctr"/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5F106-993D-A4C0-08A4-11A12AB7E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458" y="3602038"/>
            <a:ext cx="11804542" cy="3255962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masis MT Pro Medium" panose="02040604050005020304" pitchFamily="18" charset="0"/>
              </a:rPr>
              <a:t>The analysis highlights key trends in debit and credit transactions.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Amasis MT Pro Medium" panose="020406040500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masis MT Pro Medium" panose="02040604050005020304" pitchFamily="18" charset="0"/>
              </a:rPr>
              <a:t>KPIs support monitoring of financial health and performance.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Amasis MT Pro Medium" panose="020406040500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masis MT Pro Medium" panose="02040604050005020304" pitchFamily="18" charset="0"/>
              </a:rPr>
              <a:t>Insights assist in improving transaction efficiency and customer engagement.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Amasis MT Pro Medium" panose="020406040500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masis MT Pro Medium" panose="02040604050005020304" pitchFamily="18" charset="0"/>
              </a:rPr>
              <a:t>Findings can guide strategic planning for banks and branches.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9568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40684F-916F-B121-2B9F-44B3576B1AA1}"/>
              </a:ext>
            </a:extLst>
          </p:cNvPr>
          <p:cNvSpPr txBox="1"/>
          <p:nvPr/>
        </p:nvSpPr>
        <p:spPr>
          <a:xfrm>
            <a:off x="3171825" y="735284"/>
            <a:ext cx="3733800" cy="31650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22" name="Graphic 21" descr="Smiling Face with No Fill">
            <a:extLst>
              <a:ext uri="{FF2B5EF4-FFF2-40B4-BE49-F238E27FC236}">
                <a16:creationId xmlns:a16="http://schemas.microsoft.com/office/drawing/2014/main" id="{630E2A06-0C55-6571-31EB-E6812EBB1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2162" y="2937751"/>
            <a:ext cx="966789" cy="96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0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</TotalTime>
  <Words>695</Words>
  <Application>Microsoft Office PowerPoint</Application>
  <PresentationFormat>Widescreen</PresentationFormat>
  <Paragraphs>101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Amasis MT Pro Medium</vt:lpstr>
      <vt:lpstr>Arial</vt:lpstr>
      <vt:lpstr>Calibri</vt:lpstr>
      <vt:lpstr>Calibri Light</vt:lpstr>
      <vt:lpstr>Canva Sans</vt:lpstr>
      <vt:lpstr>Open Sans Extra Bold</vt:lpstr>
      <vt:lpstr>Times New Roman</vt:lpstr>
      <vt:lpstr>Trebuchet MS</vt:lpstr>
      <vt:lpstr>Wingdings 3</vt:lpstr>
      <vt:lpstr>Facet</vt:lpstr>
      <vt:lpstr>Office Theme</vt:lpstr>
      <vt:lpstr>Analysis of Bank Analytics Dashboard</vt:lpstr>
      <vt:lpstr>Table of Contents</vt:lpstr>
      <vt:lpstr>Introduction </vt:lpstr>
      <vt:lpstr> Objectives</vt:lpstr>
      <vt:lpstr>Tools Used</vt:lpstr>
      <vt:lpstr> EXCEL DASHBOARD</vt:lpstr>
      <vt:lpstr>POWERBI DASHBOARD</vt:lpstr>
      <vt:lpstr> TABLEAU DASHBOARD </vt:lpstr>
      <vt:lpstr>PowerPoint Presentation</vt:lpstr>
      <vt:lpstr>LIMITATIONS</vt:lpstr>
      <vt:lpstr> KEY FINDINGS </vt:lpstr>
      <vt:lpstr>SUMMARY</vt:lpstr>
      <vt:lpstr>Conclusion</vt:lpstr>
      <vt:lpstr>Debit and Credit Dashboard Analysis </vt:lpstr>
      <vt:lpstr>INDEX</vt:lpstr>
      <vt:lpstr>INTRODUCTION</vt:lpstr>
      <vt:lpstr>Objectives</vt:lpstr>
      <vt:lpstr>Tools used for Data Analysis and Limitations</vt:lpstr>
      <vt:lpstr>Excel Dashboard</vt:lpstr>
      <vt:lpstr>Tableau Dashboard</vt:lpstr>
      <vt:lpstr>PowerBi Dashboard</vt:lpstr>
      <vt:lpstr>Findings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Joshi</dc:creator>
  <cp:lastModifiedBy>Shobha Gowda</cp:lastModifiedBy>
  <cp:revision>4</cp:revision>
  <dcterms:created xsi:type="dcterms:W3CDTF">2025-09-01T07:21:47Z</dcterms:created>
  <dcterms:modified xsi:type="dcterms:W3CDTF">2025-09-01T08:01:43Z</dcterms:modified>
</cp:coreProperties>
</file>